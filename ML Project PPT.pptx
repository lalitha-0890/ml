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image" Target="../media/image-2-7.png"/><Relationship Id="rId8" Type="http://schemas.openxmlformats.org/officeDocument/2006/relationships/slideLayout" Target="../slideLayouts/slideLayout1.xml"/><Relationship Id="rId9"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1.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1.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slideLayout" Target="../slideLayouts/slideLayout1.xml"/><Relationship Id="rId9"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slideLayout" Target="../slideLayouts/slideLayout1.xml"/><Relationship Id="rId8"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1.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8869680" y="-1463040"/>
            <a:ext cx="5029200" cy="5029200"/>
          </a:xfrm>
          <a:prstGeom prst="ellipse">
            <a:avLst/>
          </a:prstGeom>
          <a:solidFill>
            <a:srgbClr val="028090">
              <a:alpha val="45000"/>
            </a:srgbClr>
          </a:solidFill>
          <a:ln/>
        </p:spPr>
      </p:sp>
      <p:sp>
        <p:nvSpPr>
          <p:cNvPr id="3" name="Shape 1"/>
          <p:cNvSpPr/>
          <p:nvPr/>
        </p:nvSpPr>
        <p:spPr>
          <a:xfrm>
            <a:off x="10332720" y="3291840"/>
            <a:ext cx="3291840" cy="3291840"/>
          </a:xfrm>
          <a:prstGeom prst="ellipse">
            <a:avLst/>
          </a:prstGeom>
          <a:solidFill>
            <a:srgbClr val="02C39A">
              <a:alpha val="30000"/>
            </a:srgbClr>
          </a:solidFill>
          <a:ln/>
        </p:spPr>
      </p:sp>
      <p:sp>
        <p:nvSpPr>
          <p:cNvPr id="4" name="Shape 2"/>
          <p:cNvSpPr/>
          <p:nvPr/>
        </p:nvSpPr>
        <p:spPr>
          <a:xfrm>
            <a:off x="-1188720" y="4389120"/>
            <a:ext cx="3291840" cy="3291840"/>
          </a:xfrm>
          <a:prstGeom prst="ellipse">
            <a:avLst/>
          </a:prstGeom>
          <a:solidFill>
            <a:srgbClr val="00A896">
              <a:alpha val="30000"/>
            </a:srgbClr>
          </a:solidFill>
          <a:ln/>
        </p:spPr>
      </p:sp>
      <p:sp>
        <p:nvSpPr>
          <p:cNvPr id="5" name="Shape 3"/>
          <p:cNvSpPr/>
          <p:nvPr/>
        </p:nvSpPr>
        <p:spPr>
          <a:xfrm>
            <a:off x="640080" y="548640"/>
            <a:ext cx="822960" cy="822960"/>
          </a:xfrm>
          <a:prstGeom prst="ellipse">
            <a:avLst/>
          </a:prstGeom>
          <a:solidFill>
            <a:srgbClr val="028090"/>
          </a:solidFill>
          <a:ln/>
        </p:spPr>
      </p:sp>
      <p:pic>
        <p:nvPicPr>
          <p:cNvPr id="6" name="Image 0" descr="icons/heartbeat_white.png">    </p:cNvPr>
          <p:cNvPicPr>
            <a:picLocks noChangeAspect="1"/>
          </p:cNvPicPr>
          <p:nvPr/>
        </p:nvPicPr>
        <p:blipFill>
          <a:blip r:embed="rId1"/>
          <a:stretch>
            <a:fillRect/>
          </a:stretch>
        </p:blipFill>
        <p:spPr>
          <a:xfrm>
            <a:off x="786384" y="694944"/>
            <a:ext cx="530352" cy="530352"/>
          </a:xfrm>
          <a:prstGeom prst="rect">
            <a:avLst/>
          </a:prstGeom>
        </p:spPr>
      </p:pic>
      <p:sp>
        <p:nvSpPr>
          <p:cNvPr id="7" name="Text 4"/>
          <p:cNvSpPr/>
          <p:nvPr/>
        </p:nvSpPr>
        <p:spPr>
          <a:xfrm>
            <a:off x="640080" y="1554480"/>
            <a:ext cx="8229600" cy="320040"/>
          </a:xfrm>
          <a:prstGeom prst="rect">
            <a:avLst/>
          </a:prstGeom>
          <a:noFill/>
          <a:ln/>
        </p:spPr>
        <p:txBody>
          <a:bodyPr wrap="square" rtlCol="0" anchor="ctr"/>
          <a:lstStyle/>
          <a:p>
            <a:pPr indent="0" marL="0">
              <a:buNone/>
            </a:pPr>
            <a:r>
              <a:rPr lang="en-US" sz="1300" b="1" spc="200" kern="0" dirty="0">
                <a:solidFill>
                  <a:srgbClr val="02C39A"/>
                </a:solidFill>
                <a:latin typeface="Calibri" pitchFamily="34" charset="0"/>
                <a:ea typeface="Calibri" pitchFamily="34" charset="-122"/>
                <a:cs typeface="Calibri" pitchFamily="34" charset="-120"/>
              </a:rPr>
              <a:t>MACHINE LEARNING PROJECT  •  2026-27</a:t>
            </a:r>
            <a:endParaRPr lang="en-US" sz="1300" dirty="0"/>
          </a:p>
        </p:txBody>
      </p:sp>
      <p:sp>
        <p:nvSpPr>
          <p:cNvPr id="8" name="Text 5"/>
          <p:cNvSpPr/>
          <p:nvPr/>
        </p:nvSpPr>
        <p:spPr>
          <a:xfrm>
            <a:off x="621792" y="1874520"/>
            <a:ext cx="10515600" cy="960120"/>
          </a:xfrm>
          <a:prstGeom prst="rect">
            <a:avLst/>
          </a:prstGeom>
          <a:noFill/>
          <a:ln/>
        </p:spPr>
        <p:txBody>
          <a:bodyPr wrap="square" rtlCol="0" anchor="ctr"/>
          <a:lstStyle/>
          <a:p>
            <a:pPr indent="0" marL="0">
              <a:buNone/>
            </a:pPr>
            <a:r>
              <a:rPr lang="en-US" sz="4600" b="1" dirty="0">
                <a:solidFill>
                  <a:srgbClr val="FFFFFF"/>
                </a:solidFill>
                <a:latin typeface="Cambria" pitchFamily="34" charset="0"/>
                <a:ea typeface="Cambria" pitchFamily="34" charset="-122"/>
                <a:cs typeface="Cambria" pitchFamily="34" charset="-120"/>
              </a:rPr>
              <a:t>Heart Disease Prediction</a:t>
            </a:r>
            <a:endParaRPr lang="en-US" sz="4600" dirty="0"/>
          </a:p>
        </p:txBody>
      </p:sp>
      <p:sp>
        <p:nvSpPr>
          <p:cNvPr id="9" name="Text 6"/>
          <p:cNvSpPr/>
          <p:nvPr/>
        </p:nvSpPr>
        <p:spPr>
          <a:xfrm>
            <a:off x="640080" y="2761488"/>
            <a:ext cx="9692640" cy="548640"/>
          </a:xfrm>
          <a:prstGeom prst="rect">
            <a:avLst/>
          </a:prstGeom>
          <a:noFill/>
          <a:ln/>
        </p:spPr>
        <p:txBody>
          <a:bodyPr wrap="square" rtlCol="0" anchor="ctr"/>
          <a:lstStyle/>
          <a:p>
            <a:pPr indent="0" marL="0">
              <a:buNone/>
            </a:pPr>
            <a:r>
              <a:rPr lang="en-US" sz="1900" i="1" dirty="0">
                <a:solidFill>
                  <a:srgbClr val="BFE3DF"/>
                </a:solidFill>
                <a:latin typeface="Calibri" pitchFamily="34" charset="0"/>
                <a:ea typeface="Calibri" pitchFamily="34" charset="-122"/>
                <a:cs typeface="Calibri" pitchFamily="34" charset="-120"/>
              </a:rPr>
              <a:t>Using Logistic Regression, SVM, and K-Nearest Neighbours</a:t>
            </a:r>
            <a:endParaRPr lang="en-US" sz="1900" dirty="0"/>
          </a:p>
        </p:txBody>
      </p:sp>
      <p:sp>
        <p:nvSpPr>
          <p:cNvPr id="10" name="Shape 7"/>
          <p:cNvSpPr/>
          <p:nvPr/>
        </p:nvSpPr>
        <p:spPr>
          <a:xfrm>
            <a:off x="640080" y="3611880"/>
            <a:ext cx="5120640" cy="1508760"/>
          </a:xfrm>
          <a:prstGeom prst="rect">
            <a:avLst>
              <a:gd name="adj" fmla="val 4848"/>
            </a:avLst>
          </a:prstGeom>
          <a:solidFill>
            <a:srgbClr val="011E1F">
              <a:alpha val="80000"/>
            </a:srgbClr>
          </a:solidFill>
          <a:ln/>
        </p:spPr>
      </p:sp>
      <p:sp>
        <p:nvSpPr>
          <p:cNvPr id="11" name="Text 8"/>
          <p:cNvSpPr/>
          <p:nvPr/>
        </p:nvSpPr>
        <p:spPr>
          <a:xfrm>
            <a:off x="868680" y="3776472"/>
            <a:ext cx="4663440" cy="640080"/>
          </a:xfrm>
          <a:prstGeom prst="rect">
            <a:avLst/>
          </a:prstGeom>
          <a:noFill/>
          <a:ln/>
        </p:spPr>
        <p:txBody>
          <a:bodyPr wrap="square" rtlCol="0" anchor="ctr"/>
          <a:lstStyle/>
          <a:p>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M. Lalitha   </a:t>
            </a:r>
            <a:pPr indent="0" marL="0">
              <a:lnSpc>
                <a:spcPct val="130000"/>
              </a:lnSpc>
              <a:buNone/>
            </a:pPr>
            <a:r>
              <a:rPr lang="en-US" sz="1400" dirty="0">
                <a:solidFill>
                  <a:srgbClr val="BFE3DF"/>
                </a:solidFill>
                <a:latin typeface="Calibri" pitchFamily="34" charset="0"/>
                <a:ea typeface="Calibri" pitchFamily="34" charset="-122"/>
                <a:cs typeface="Calibri" pitchFamily="34" charset="-120"/>
              </a:rPr>
              <a:t>(2520080063)
</a:t>
            </a:r>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P. Sravya   </a:t>
            </a:r>
            <a:pPr indent="0" marL="0">
              <a:lnSpc>
                <a:spcPct val="130000"/>
              </a:lnSpc>
              <a:buNone/>
            </a:pPr>
            <a:r>
              <a:rPr lang="en-US" sz="1400" dirty="0">
                <a:solidFill>
                  <a:srgbClr val="BFE3DF"/>
                </a:solidFill>
                <a:latin typeface="Calibri" pitchFamily="34" charset="0"/>
                <a:ea typeface="Calibri" pitchFamily="34" charset="-122"/>
                <a:cs typeface="Calibri" pitchFamily="34" charset="-120"/>
              </a:rPr>
              <a:t>(2520090059)</a:t>
            </a:r>
            <a:endParaRPr lang="en-US" sz="1400" dirty="0"/>
          </a:p>
        </p:txBody>
      </p:sp>
      <p:sp>
        <p:nvSpPr>
          <p:cNvPr id="12" name="Text 9"/>
          <p:cNvSpPr/>
          <p:nvPr/>
        </p:nvSpPr>
        <p:spPr>
          <a:xfrm>
            <a:off x="868680" y="4370832"/>
            <a:ext cx="4663440" cy="274320"/>
          </a:xfrm>
          <a:prstGeom prst="rect">
            <a:avLst/>
          </a:prstGeom>
          <a:noFill/>
          <a:ln/>
        </p:spPr>
        <p:txBody>
          <a:bodyPr wrap="square" rtlCol="0" anchor="ctr"/>
          <a:lstStyle/>
          <a:p>
            <a:pPr indent="0" marL="0">
              <a:buNone/>
            </a:pPr>
            <a:r>
              <a:rPr lang="en-US" sz="1150" b="1" dirty="0">
                <a:solidFill>
                  <a:srgbClr val="02C39A"/>
                </a:solidFill>
                <a:latin typeface="Calibri" pitchFamily="34" charset="0"/>
                <a:ea typeface="Calibri" pitchFamily="34" charset="-122"/>
                <a:cs typeface="Calibri" pitchFamily="34" charset="-120"/>
              </a:rPr>
              <a:t>Department of CSIT</a:t>
            </a:r>
            <a:endParaRPr lang="en-US" sz="1150" dirty="0"/>
          </a:p>
        </p:txBody>
      </p:sp>
      <p:sp>
        <p:nvSpPr>
          <p:cNvPr id="13" name="Shape 10"/>
          <p:cNvSpPr/>
          <p:nvPr/>
        </p:nvSpPr>
        <p:spPr>
          <a:xfrm>
            <a:off x="5943600" y="3611880"/>
            <a:ext cx="5212080" cy="1508760"/>
          </a:xfrm>
          <a:prstGeom prst="rect">
            <a:avLst>
              <a:gd name="adj" fmla="val 4848"/>
            </a:avLst>
          </a:prstGeom>
          <a:solidFill>
            <a:srgbClr val="011E1F">
              <a:alpha val="80000"/>
            </a:srgbClr>
          </a:solidFill>
          <a:ln/>
        </p:spPr>
      </p:sp>
      <p:sp>
        <p:nvSpPr>
          <p:cNvPr id="14" name="Text 11"/>
          <p:cNvSpPr/>
          <p:nvPr/>
        </p:nvSpPr>
        <p:spPr>
          <a:xfrm>
            <a:off x="6172200" y="3776472"/>
            <a:ext cx="4754880" cy="1188720"/>
          </a:xfrm>
          <a:prstGeom prst="rect">
            <a:avLst/>
          </a:prstGeom>
          <a:noFill/>
          <a:ln/>
        </p:spPr>
        <p:txBody>
          <a:bodyPr wrap="square" rtlCol="0" anchor="ctr"/>
          <a:lstStyle/>
          <a:p>
            <a:pPr indent="0" marL="0">
              <a:lnSpc>
                <a:spcPct val="130000"/>
              </a:lnSpc>
              <a:buNone/>
            </a:pPr>
            <a:r>
              <a:rPr lang="en-US" sz="1150" dirty="0">
                <a:solidFill>
                  <a:srgbClr val="BFE3DF"/>
                </a:solidFill>
                <a:latin typeface="Calibri" pitchFamily="34" charset="0"/>
                <a:ea typeface="Calibri" pitchFamily="34" charset="-122"/>
                <a:cs typeface="Calibri" pitchFamily="34" charset="-120"/>
              </a:rPr>
              <a:t>Under the guidance of
</a:t>
            </a:r>
            <a:pPr indent="0" marL="0">
              <a:lnSpc>
                <a:spcPct val="130000"/>
              </a:lnSpc>
              <a:buNone/>
            </a:pPr>
            <a:r>
              <a:rPr lang="en-US" sz="1400" b="1" dirty="0">
                <a:solidFill>
                  <a:srgbClr val="FFFFFF"/>
                </a:solidFill>
                <a:latin typeface="Calibri" pitchFamily="34" charset="0"/>
                <a:ea typeface="Calibri" pitchFamily="34" charset="-122"/>
                <a:cs typeface="Calibri" pitchFamily="34" charset="-120"/>
              </a:rPr>
              <a:t>Ms. I V S L Haritha
</a:t>
            </a:r>
            <a:pPr indent="0" marL="0">
              <a:lnSpc>
                <a:spcPct val="130000"/>
              </a:lnSpc>
              <a:buNone/>
            </a:pPr>
            <a:r>
              <a:rPr lang="en-US" sz="1200" dirty="0">
                <a:solidFill>
                  <a:srgbClr val="BFE3DF"/>
                </a:solidFill>
                <a:latin typeface="Calibri" pitchFamily="34" charset="0"/>
                <a:ea typeface="Calibri" pitchFamily="34" charset="-122"/>
                <a:cs typeface="Calibri" pitchFamily="34" charset="-120"/>
              </a:rPr>
              <a:t>Assistant Professor, Dept. of CSIT</a:t>
            </a:r>
            <a:endParaRPr lang="en-US" sz="1150" dirty="0"/>
          </a:p>
        </p:txBody>
      </p:sp>
      <p:sp>
        <p:nvSpPr>
          <p:cNvPr id="15" name="Text 12"/>
          <p:cNvSpPr/>
          <p:nvPr/>
        </p:nvSpPr>
        <p:spPr>
          <a:xfrm>
            <a:off x="640080" y="6355080"/>
            <a:ext cx="2743200" cy="274320"/>
          </a:xfrm>
          <a:prstGeom prst="rect">
            <a:avLst/>
          </a:prstGeom>
          <a:noFill/>
          <a:ln/>
        </p:spPr>
        <p:txBody>
          <a:bodyPr wrap="square" rtlCol="0" anchor="ctr"/>
          <a:lstStyle/>
          <a:p>
            <a:pPr indent="0" marL="0">
              <a:buNone/>
            </a:pPr>
            <a:r>
              <a:rPr lang="en-US" sz="1050" dirty="0">
                <a:solidFill>
                  <a:srgbClr val="7FB8B2"/>
                </a:solidFill>
                <a:latin typeface="Calibri" pitchFamily="34" charset="0"/>
                <a:ea typeface="Calibri" pitchFamily="34" charset="-122"/>
                <a:cs typeface="Calibri" pitchFamily="34" charset="-120"/>
              </a:rPr>
              <a:t>20-08-2026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411480"/>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Outline</a:t>
            </a:r>
            <a:endParaRPr lang="en-US" sz="3400" dirty="0"/>
          </a:p>
        </p:txBody>
      </p:sp>
      <p:sp>
        <p:nvSpPr>
          <p:cNvPr id="3" name="Shape 1"/>
          <p:cNvSpPr/>
          <p:nvPr/>
        </p:nvSpPr>
        <p:spPr>
          <a:xfrm>
            <a:off x="548640" y="169164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4" name="Shape 2"/>
          <p:cNvSpPr/>
          <p:nvPr/>
        </p:nvSpPr>
        <p:spPr>
          <a:xfrm>
            <a:off x="749808" y="1911096"/>
            <a:ext cx="566928" cy="566928"/>
          </a:xfrm>
          <a:prstGeom prst="ellipse">
            <a:avLst/>
          </a:prstGeom>
          <a:solidFill>
            <a:srgbClr val="EAF5F3"/>
          </a:solidFill>
          <a:ln/>
        </p:spPr>
      </p:sp>
      <p:pic>
        <p:nvPicPr>
          <p:cNvPr id="5" name="Image 0" descr="icons/fileAlt_teal.png">    </p:cNvPr>
          <p:cNvPicPr>
            <a:picLocks noChangeAspect="1"/>
          </p:cNvPicPr>
          <p:nvPr/>
        </p:nvPicPr>
        <p:blipFill>
          <a:blip r:embed="rId1"/>
          <a:stretch>
            <a:fillRect/>
          </a:stretch>
        </p:blipFill>
        <p:spPr>
          <a:xfrm>
            <a:off x="868680" y="2029968"/>
            <a:ext cx="329184" cy="329184"/>
          </a:xfrm>
          <a:prstGeom prst="rect">
            <a:avLst/>
          </a:prstGeom>
        </p:spPr>
      </p:pic>
      <p:sp>
        <p:nvSpPr>
          <p:cNvPr id="6" name="Text 3"/>
          <p:cNvSpPr/>
          <p:nvPr/>
        </p:nvSpPr>
        <p:spPr>
          <a:xfrm>
            <a:off x="3108960" y="181965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01</a:t>
            </a:r>
            <a:endParaRPr lang="en-US" sz="1500" dirty="0"/>
          </a:p>
        </p:txBody>
      </p:sp>
      <p:sp>
        <p:nvSpPr>
          <p:cNvPr id="7" name="Text 4"/>
          <p:cNvSpPr/>
          <p:nvPr/>
        </p:nvSpPr>
        <p:spPr>
          <a:xfrm>
            <a:off x="731520" y="236829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Abstract</a:t>
            </a:r>
            <a:endParaRPr lang="en-US" sz="1450" dirty="0"/>
          </a:p>
        </p:txBody>
      </p:sp>
      <p:sp>
        <p:nvSpPr>
          <p:cNvPr id="8" name="Shape 5"/>
          <p:cNvSpPr/>
          <p:nvPr/>
        </p:nvSpPr>
        <p:spPr>
          <a:xfrm>
            <a:off x="4114800" y="169164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9" name="Shape 6"/>
          <p:cNvSpPr/>
          <p:nvPr/>
        </p:nvSpPr>
        <p:spPr>
          <a:xfrm>
            <a:off x="4315968" y="1911096"/>
            <a:ext cx="566928" cy="566928"/>
          </a:xfrm>
          <a:prstGeom prst="ellipse">
            <a:avLst/>
          </a:prstGeom>
          <a:solidFill>
            <a:srgbClr val="EAF5F3"/>
          </a:solidFill>
          <a:ln/>
        </p:spPr>
      </p:sp>
      <p:pic>
        <p:nvPicPr>
          <p:cNvPr id="10" name="Image 1" descr="icons/hospital_teal.png">    </p:cNvPr>
          <p:cNvPicPr>
            <a:picLocks noChangeAspect="1"/>
          </p:cNvPicPr>
          <p:nvPr/>
        </p:nvPicPr>
        <p:blipFill>
          <a:blip r:embed="rId2"/>
          <a:stretch>
            <a:fillRect/>
          </a:stretch>
        </p:blipFill>
        <p:spPr>
          <a:xfrm>
            <a:off x="4434840" y="2029968"/>
            <a:ext cx="329184" cy="329184"/>
          </a:xfrm>
          <a:prstGeom prst="rect">
            <a:avLst/>
          </a:prstGeom>
        </p:spPr>
      </p:pic>
      <p:sp>
        <p:nvSpPr>
          <p:cNvPr id="11" name="Text 7"/>
          <p:cNvSpPr/>
          <p:nvPr/>
        </p:nvSpPr>
        <p:spPr>
          <a:xfrm>
            <a:off x="6675120" y="181965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02</a:t>
            </a:r>
            <a:endParaRPr lang="en-US" sz="1500" dirty="0"/>
          </a:p>
        </p:txBody>
      </p:sp>
      <p:sp>
        <p:nvSpPr>
          <p:cNvPr id="12" name="Text 8"/>
          <p:cNvSpPr/>
          <p:nvPr/>
        </p:nvSpPr>
        <p:spPr>
          <a:xfrm>
            <a:off x="4297680" y="236829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Existing System</a:t>
            </a:r>
            <a:endParaRPr lang="en-US" sz="1450" dirty="0"/>
          </a:p>
        </p:txBody>
      </p:sp>
      <p:sp>
        <p:nvSpPr>
          <p:cNvPr id="13" name="Shape 9"/>
          <p:cNvSpPr/>
          <p:nvPr/>
        </p:nvSpPr>
        <p:spPr>
          <a:xfrm>
            <a:off x="7680960" y="169164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14" name="Shape 10"/>
          <p:cNvSpPr/>
          <p:nvPr/>
        </p:nvSpPr>
        <p:spPr>
          <a:xfrm>
            <a:off x="7882128" y="1911096"/>
            <a:ext cx="566928" cy="566928"/>
          </a:xfrm>
          <a:prstGeom prst="ellipse">
            <a:avLst/>
          </a:prstGeom>
          <a:solidFill>
            <a:srgbClr val="EAF5F3"/>
          </a:solidFill>
          <a:ln/>
        </p:spPr>
      </p:sp>
      <p:pic>
        <p:nvPicPr>
          <p:cNvPr id="15" name="Image 2" descr="icons/lightbulb_teal.png">    </p:cNvPr>
          <p:cNvPicPr>
            <a:picLocks noChangeAspect="1"/>
          </p:cNvPicPr>
          <p:nvPr/>
        </p:nvPicPr>
        <p:blipFill>
          <a:blip r:embed="rId3"/>
          <a:stretch>
            <a:fillRect/>
          </a:stretch>
        </p:blipFill>
        <p:spPr>
          <a:xfrm>
            <a:off x="8001000" y="2029968"/>
            <a:ext cx="329184" cy="329184"/>
          </a:xfrm>
          <a:prstGeom prst="rect">
            <a:avLst/>
          </a:prstGeom>
        </p:spPr>
      </p:pic>
      <p:sp>
        <p:nvSpPr>
          <p:cNvPr id="16" name="Text 11"/>
          <p:cNvSpPr/>
          <p:nvPr/>
        </p:nvSpPr>
        <p:spPr>
          <a:xfrm>
            <a:off x="10241280" y="181965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03</a:t>
            </a:r>
            <a:endParaRPr lang="en-US" sz="1500" dirty="0"/>
          </a:p>
        </p:txBody>
      </p:sp>
      <p:sp>
        <p:nvSpPr>
          <p:cNvPr id="17" name="Text 12"/>
          <p:cNvSpPr/>
          <p:nvPr/>
        </p:nvSpPr>
        <p:spPr>
          <a:xfrm>
            <a:off x="7863840" y="236829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Proposed System</a:t>
            </a:r>
            <a:endParaRPr lang="en-US" sz="1450" dirty="0"/>
          </a:p>
        </p:txBody>
      </p:sp>
      <p:sp>
        <p:nvSpPr>
          <p:cNvPr id="18" name="Shape 13"/>
          <p:cNvSpPr/>
          <p:nvPr/>
        </p:nvSpPr>
        <p:spPr>
          <a:xfrm>
            <a:off x="548640" y="310896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19" name="Shape 14"/>
          <p:cNvSpPr/>
          <p:nvPr/>
        </p:nvSpPr>
        <p:spPr>
          <a:xfrm>
            <a:off x="749808" y="3328416"/>
            <a:ext cx="566928" cy="566928"/>
          </a:xfrm>
          <a:prstGeom prst="ellipse">
            <a:avLst/>
          </a:prstGeom>
          <a:solidFill>
            <a:srgbClr val="EAF5F3"/>
          </a:solidFill>
          <a:ln/>
        </p:spPr>
      </p:sp>
      <p:pic>
        <p:nvPicPr>
          <p:cNvPr id="20" name="Image 3" descr="icons/sitemap_teal.png">    </p:cNvPr>
          <p:cNvPicPr>
            <a:picLocks noChangeAspect="1"/>
          </p:cNvPicPr>
          <p:nvPr/>
        </p:nvPicPr>
        <p:blipFill>
          <a:blip r:embed="rId4"/>
          <a:stretch>
            <a:fillRect/>
          </a:stretch>
        </p:blipFill>
        <p:spPr>
          <a:xfrm>
            <a:off x="868680" y="3447288"/>
            <a:ext cx="329184" cy="329184"/>
          </a:xfrm>
          <a:prstGeom prst="rect">
            <a:avLst/>
          </a:prstGeom>
        </p:spPr>
      </p:pic>
      <p:sp>
        <p:nvSpPr>
          <p:cNvPr id="21" name="Text 15"/>
          <p:cNvSpPr/>
          <p:nvPr/>
        </p:nvSpPr>
        <p:spPr>
          <a:xfrm>
            <a:off x="3108960" y="323697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04</a:t>
            </a:r>
            <a:endParaRPr lang="en-US" sz="1500" dirty="0"/>
          </a:p>
        </p:txBody>
      </p:sp>
      <p:sp>
        <p:nvSpPr>
          <p:cNvPr id="22" name="Text 16"/>
          <p:cNvSpPr/>
          <p:nvPr/>
        </p:nvSpPr>
        <p:spPr>
          <a:xfrm>
            <a:off x="731520" y="378561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System Architecture</a:t>
            </a:r>
            <a:endParaRPr lang="en-US" sz="1450" dirty="0"/>
          </a:p>
        </p:txBody>
      </p:sp>
      <p:sp>
        <p:nvSpPr>
          <p:cNvPr id="23" name="Shape 17"/>
          <p:cNvSpPr/>
          <p:nvPr/>
        </p:nvSpPr>
        <p:spPr>
          <a:xfrm>
            <a:off x="4114800" y="310896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24" name="Shape 18"/>
          <p:cNvSpPr/>
          <p:nvPr/>
        </p:nvSpPr>
        <p:spPr>
          <a:xfrm>
            <a:off x="4315968" y="3328416"/>
            <a:ext cx="566928" cy="566928"/>
          </a:xfrm>
          <a:prstGeom prst="ellipse">
            <a:avLst/>
          </a:prstGeom>
          <a:solidFill>
            <a:srgbClr val="EAF5F3"/>
          </a:solidFill>
          <a:ln/>
        </p:spPr>
      </p:sp>
      <p:pic>
        <p:nvPicPr>
          <p:cNvPr id="25" name="Image 4" descr="icons/cubes_teal.png">    </p:cNvPr>
          <p:cNvPicPr>
            <a:picLocks noChangeAspect="1"/>
          </p:cNvPicPr>
          <p:nvPr/>
        </p:nvPicPr>
        <p:blipFill>
          <a:blip r:embed="rId5"/>
          <a:stretch>
            <a:fillRect/>
          </a:stretch>
        </p:blipFill>
        <p:spPr>
          <a:xfrm>
            <a:off x="4434840" y="3447288"/>
            <a:ext cx="329184" cy="329184"/>
          </a:xfrm>
          <a:prstGeom prst="rect">
            <a:avLst/>
          </a:prstGeom>
        </p:spPr>
      </p:pic>
      <p:sp>
        <p:nvSpPr>
          <p:cNvPr id="26" name="Text 19"/>
          <p:cNvSpPr/>
          <p:nvPr/>
        </p:nvSpPr>
        <p:spPr>
          <a:xfrm>
            <a:off x="6675120" y="323697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05</a:t>
            </a:r>
            <a:endParaRPr lang="en-US" sz="1500" dirty="0"/>
          </a:p>
        </p:txBody>
      </p:sp>
      <p:sp>
        <p:nvSpPr>
          <p:cNvPr id="27" name="Text 20"/>
          <p:cNvSpPr/>
          <p:nvPr/>
        </p:nvSpPr>
        <p:spPr>
          <a:xfrm>
            <a:off x="4297680" y="378561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Project Modules</a:t>
            </a:r>
            <a:endParaRPr lang="en-US" sz="1450" dirty="0"/>
          </a:p>
        </p:txBody>
      </p:sp>
      <p:sp>
        <p:nvSpPr>
          <p:cNvPr id="28" name="Shape 21"/>
          <p:cNvSpPr/>
          <p:nvPr/>
        </p:nvSpPr>
        <p:spPr>
          <a:xfrm>
            <a:off x="7680960" y="310896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29" name="Shape 22"/>
          <p:cNvSpPr/>
          <p:nvPr/>
        </p:nvSpPr>
        <p:spPr>
          <a:xfrm>
            <a:off x="7882128" y="3328416"/>
            <a:ext cx="566928" cy="566928"/>
          </a:xfrm>
          <a:prstGeom prst="ellipse">
            <a:avLst/>
          </a:prstGeom>
          <a:solidFill>
            <a:srgbClr val="EAF5F3"/>
          </a:solidFill>
          <a:ln/>
        </p:spPr>
      </p:sp>
      <p:pic>
        <p:nvPicPr>
          <p:cNvPr id="30" name="Image 5" descr="icons/bullseye_teal.png">    </p:cNvPr>
          <p:cNvPicPr>
            <a:picLocks noChangeAspect="1"/>
          </p:cNvPicPr>
          <p:nvPr/>
        </p:nvPicPr>
        <p:blipFill>
          <a:blip r:embed="rId6"/>
          <a:stretch>
            <a:fillRect/>
          </a:stretch>
        </p:blipFill>
        <p:spPr>
          <a:xfrm>
            <a:off x="8001000" y="3447288"/>
            <a:ext cx="329184" cy="329184"/>
          </a:xfrm>
          <a:prstGeom prst="rect">
            <a:avLst/>
          </a:prstGeom>
        </p:spPr>
      </p:pic>
      <p:sp>
        <p:nvSpPr>
          <p:cNvPr id="31" name="Text 23"/>
          <p:cNvSpPr/>
          <p:nvPr/>
        </p:nvSpPr>
        <p:spPr>
          <a:xfrm>
            <a:off x="10241280" y="323697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06</a:t>
            </a:r>
            <a:endParaRPr lang="en-US" sz="1500" dirty="0"/>
          </a:p>
        </p:txBody>
      </p:sp>
      <p:sp>
        <p:nvSpPr>
          <p:cNvPr id="32" name="Text 24"/>
          <p:cNvSpPr/>
          <p:nvPr/>
        </p:nvSpPr>
        <p:spPr>
          <a:xfrm>
            <a:off x="7863840" y="378561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Objectives</a:t>
            </a:r>
            <a:endParaRPr lang="en-US" sz="1450" dirty="0"/>
          </a:p>
        </p:txBody>
      </p:sp>
      <p:sp>
        <p:nvSpPr>
          <p:cNvPr id="33" name="Shape 25"/>
          <p:cNvSpPr/>
          <p:nvPr/>
        </p:nvSpPr>
        <p:spPr>
          <a:xfrm>
            <a:off x="548640" y="4526280"/>
            <a:ext cx="3246120" cy="1170432"/>
          </a:xfrm>
          <a:prstGeom prst="rect">
            <a:avLst>
              <a:gd name="adj" fmla="val 7031"/>
            </a:avLst>
          </a:prstGeom>
          <a:solidFill>
            <a:srgbClr val="FFFFFF"/>
          </a:solidFill>
          <a:ln/>
          <a:effectLst>
            <a:outerShdw sx="100000" sy="100000" kx="0" ky="0" algn="bl" rotWithShape="0" blurRad="101600" dist="38100" dir="5400000">
              <a:srgbClr val="1B4B4B">
                <a:alpha val="18000"/>
              </a:srgbClr>
            </a:outerShdw>
          </a:effectLst>
        </p:spPr>
      </p:sp>
      <p:sp>
        <p:nvSpPr>
          <p:cNvPr id="34" name="Shape 26"/>
          <p:cNvSpPr/>
          <p:nvPr/>
        </p:nvSpPr>
        <p:spPr>
          <a:xfrm>
            <a:off x="749808" y="4745736"/>
            <a:ext cx="566928" cy="566928"/>
          </a:xfrm>
          <a:prstGeom prst="ellipse">
            <a:avLst/>
          </a:prstGeom>
          <a:solidFill>
            <a:srgbClr val="EAF5F3"/>
          </a:solidFill>
          <a:ln/>
        </p:spPr>
      </p:sp>
      <p:pic>
        <p:nvPicPr>
          <p:cNvPr id="35" name="Image 6" descr="icons/flag_teal.png">    </p:cNvPr>
          <p:cNvPicPr>
            <a:picLocks noChangeAspect="1"/>
          </p:cNvPicPr>
          <p:nvPr/>
        </p:nvPicPr>
        <p:blipFill>
          <a:blip r:embed="rId7"/>
          <a:stretch>
            <a:fillRect/>
          </a:stretch>
        </p:blipFill>
        <p:spPr>
          <a:xfrm>
            <a:off x="868680" y="4864608"/>
            <a:ext cx="329184" cy="329184"/>
          </a:xfrm>
          <a:prstGeom prst="rect">
            <a:avLst/>
          </a:prstGeom>
        </p:spPr>
      </p:pic>
      <p:sp>
        <p:nvSpPr>
          <p:cNvPr id="36" name="Text 27"/>
          <p:cNvSpPr/>
          <p:nvPr/>
        </p:nvSpPr>
        <p:spPr>
          <a:xfrm>
            <a:off x="3108960" y="4654296"/>
            <a:ext cx="548640" cy="320040"/>
          </a:xfrm>
          <a:prstGeom prst="rect">
            <a:avLst/>
          </a:prstGeom>
          <a:noFill/>
          <a:ln/>
        </p:spPr>
        <p:txBody>
          <a:bodyPr wrap="square" rtlCol="0" anchor="ctr"/>
          <a:lstStyle/>
          <a:p>
            <a:pPr algn="r" indent="0" marL="0">
              <a:buNone/>
            </a:pPr>
            <a:r>
              <a:rPr lang="en-US" sz="1500" b="1" dirty="0">
                <a:solidFill>
                  <a:srgbClr val="02C39A"/>
                </a:solidFill>
                <a:latin typeface="Cambria" pitchFamily="34" charset="0"/>
                <a:ea typeface="Cambria" pitchFamily="34" charset="-122"/>
                <a:cs typeface="Cambria" pitchFamily="34" charset="-120"/>
              </a:rPr>
              <a:t>07</a:t>
            </a:r>
            <a:endParaRPr lang="en-US" sz="1500" dirty="0"/>
          </a:p>
        </p:txBody>
      </p:sp>
      <p:sp>
        <p:nvSpPr>
          <p:cNvPr id="37" name="Text 28"/>
          <p:cNvSpPr/>
          <p:nvPr/>
        </p:nvSpPr>
        <p:spPr>
          <a:xfrm>
            <a:off x="731520" y="5202936"/>
            <a:ext cx="2880360" cy="411480"/>
          </a:xfrm>
          <a:prstGeom prst="rect">
            <a:avLst/>
          </a:prstGeom>
          <a:noFill/>
          <a:ln/>
        </p:spPr>
        <p:txBody>
          <a:bodyPr wrap="square" rtlCol="0" anchor="ctr"/>
          <a:lstStyle/>
          <a:p>
            <a:pPr indent="0" marL="0">
              <a:buNone/>
            </a:pPr>
            <a:r>
              <a:rPr lang="en-US" sz="1450" b="1" dirty="0">
                <a:solidFill>
                  <a:srgbClr val="0B2B2C"/>
                </a:solidFill>
                <a:latin typeface="Calibri" pitchFamily="34" charset="0"/>
                <a:ea typeface="Calibri" pitchFamily="34" charset="-122"/>
                <a:cs typeface="Calibri" pitchFamily="34" charset="-120"/>
              </a:rPr>
              <a:t>Conclusion</a:t>
            </a:r>
            <a:endParaRPr lang="en-US" sz="1450" dirty="0"/>
          </a:p>
        </p:txBody>
      </p:sp>
      <p:sp>
        <p:nvSpPr>
          <p:cNvPr id="38" name="Text 29"/>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39" name="Text 3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2</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PROJECT OVERVIEW</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Abstract</a:t>
            </a:r>
            <a:endParaRPr lang="en-US" sz="3400" dirty="0"/>
          </a:p>
        </p:txBody>
      </p:sp>
      <p:sp>
        <p:nvSpPr>
          <p:cNvPr id="4" name="Text 2"/>
          <p:cNvSpPr/>
          <p:nvPr/>
        </p:nvSpPr>
        <p:spPr>
          <a:xfrm>
            <a:off x="548640" y="1600200"/>
            <a:ext cx="6537960" cy="3749040"/>
          </a:xfrm>
          <a:prstGeom prst="rect">
            <a:avLst/>
          </a:prstGeom>
          <a:noFill/>
          <a:ln/>
        </p:spPr>
        <p:txBody>
          <a:bodyPr wrap="square" rtlCol="0" anchor="t"/>
          <a:lstStyle/>
          <a:p>
            <a:pPr indent="0" marL="0">
              <a:lnSpc>
                <a:spcPct val="155000"/>
              </a:lnSpc>
              <a:buNone/>
            </a:pPr>
            <a:r>
              <a:rPr lang="en-US" sz="1550" dirty="0">
                <a:solidFill>
                  <a:srgbClr val="0B2B2C"/>
                </a:solidFill>
                <a:latin typeface="Calibri" pitchFamily="34" charset="0"/>
                <a:ea typeface="Calibri" pitchFamily="34" charset="-122"/>
                <a:cs typeface="Calibri" pitchFamily="34" charset="-120"/>
              </a:rPr>
              <a:t>Heart disease is among the leading causes of death worldwide, making early and accurate diagnosis critical for timely treatment. </a:t>
            </a:r>
            <a:pPr indent="0" marL="0">
              <a:lnSpc>
                <a:spcPct val="155000"/>
              </a:lnSpc>
              <a:buNone/>
            </a:pPr>
            <a:r>
              <a:rPr lang="en-US" sz="1550" b="1" dirty="0">
                <a:solidFill>
                  <a:srgbClr val="028090"/>
                </a:solidFill>
                <a:latin typeface="Calibri" pitchFamily="34" charset="0"/>
                <a:ea typeface="Calibri" pitchFamily="34" charset="-122"/>
                <a:cs typeface="Calibri" pitchFamily="34" charset="-120"/>
              </a:rPr>
              <a:t>This project builds a machine learning system that estimates a patient’s risk of heart disease</a:t>
            </a:r>
            <a:pPr indent="0" marL="0">
              <a:lnSpc>
                <a:spcPct val="155000"/>
              </a:lnSpc>
              <a:buNone/>
            </a:pPr>
            <a:r>
              <a:rPr lang="en-US" sz="1550" dirty="0">
                <a:solidFill>
                  <a:srgbClr val="0B2B2C"/>
                </a:solidFill>
                <a:latin typeface="Calibri" pitchFamily="34" charset="0"/>
                <a:ea typeface="Calibri" pitchFamily="34" charset="-122"/>
                <a:cs typeface="Calibri" pitchFamily="34" charset="-120"/>
              </a:rPr>
              <a:t> from clinical attributes such as age, gender, blood pressure, cholesterol level, chest pain type, and heart rate.
</a:t>
            </a:r>
            <a:pPr indent="0" marL="0">
              <a:lnSpc>
                <a:spcPct val="155000"/>
              </a:lnSpc>
              <a:buNone/>
            </a:pPr>
            <a:r>
              <a:rPr lang="en-US" sz="1550" dirty="0">
                <a:solidFill>
                  <a:srgbClr val="0B2B2C"/>
                </a:solidFill>
                <a:latin typeface="Calibri" pitchFamily="34" charset="0"/>
                <a:ea typeface="Calibri" pitchFamily="34" charset="-122"/>
                <a:cs typeface="Calibri" pitchFamily="34" charset="-120"/>
              </a:rPr>
              <a:t>The dataset is pre-processed by handling missing values, selecting important features, normalizing values, and splitting it into training and testing sets. </a:t>
            </a:r>
            <a:pPr indent="0" marL="0">
              <a:lnSpc>
                <a:spcPct val="155000"/>
              </a:lnSpc>
              <a:buNone/>
            </a:pPr>
            <a:r>
              <a:rPr lang="en-US" sz="1550" b="1" dirty="0">
                <a:solidFill>
                  <a:srgbClr val="028090"/>
                </a:solidFill>
                <a:latin typeface="Calibri" pitchFamily="34" charset="0"/>
                <a:ea typeface="Calibri" pitchFamily="34" charset="-122"/>
                <a:cs typeface="Calibri" pitchFamily="34" charset="-120"/>
              </a:rPr>
              <a:t>Three algorithms</a:t>
            </a:r>
            <a:pPr indent="0" marL="0">
              <a:lnSpc>
                <a:spcPct val="155000"/>
              </a:lnSpc>
              <a:buNone/>
            </a:pPr>
            <a:r>
              <a:rPr lang="en-US" sz="1550" dirty="0">
                <a:solidFill>
                  <a:srgbClr val="0B2B2C"/>
                </a:solidFill>
                <a:latin typeface="Calibri" pitchFamily="34" charset="0"/>
                <a:ea typeface="Calibri" pitchFamily="34" charset="-122"/>
                <a:cs typeface="Calibri" pitchFamily="34" charset="-120"/>
              </a:rPr>
              <a:t> — Logistic Regression, SVM, and KNN — are implemented and compared using accuracy, precision, recall, F1-score, and confusion matrix.</a:t>
            </a:r>
            <a:endParaRPr lang="en-US" sz="1550" dirty="0"/>
          </a:p>
        </p:txBody>
      </p:sp>
      <p:sp>
        <p:nvSpPr>
          <p:cNvPr id="5" name="Shape 3"/>
          <p:cNvSpPr/>
          <p:nvPr/>
        </p:nvSpPr>
        <p:spPr>
          <a:xfrm>
            <a:off x="548640" y="5806440"/>
            <a:ext cx="6537960" cy="566928"/>
          </a:xfrm>
          <a:prstGeom prst="rect">
            <a:avLst>
              <a:gd name="adj" fmla="val 12903"/>
            </a:avLst>
          </a:prstGeom>
          <a:solidFill>
            <a:srgbClr val="EAF5F3"/>
          </a:solidFill>
          <a:ln/>
        </p:spPr>
      </p:sp>
      <p:pic>
        <p:nvPicPr>
          <p:cNvPr id="6" name="Image 0" descr="icons/handHoldingMedical_teal.png">    </p:cNvPr>
          <p:cNvPicPr>
            <a:picLocks noChangeAspect="1"/>
          </p:cNvPicPr>
          <p:nvPr/>
        </p:nvPicPr>
        <p:blipFill>
          <a:blip r:embed="rId1"/>
          <a:stretch>
            <a:fillRect/>
          </a:stretch>
        </p:blipFill>
        <p:spPr>
          <a:xfrm>
            <a:off x="713232" y="5925312"/>
            <a:ext cx="329184" cy="329184"/>
          </a:xfrm>
          <a:prstGeom prst="rect">
            <a:avLst/>
          </a:prstGeom>
        </p:spPr>
      </p:pic>
      <p:sp>
        <p:nvSpPr>
          <p:cNvPr id="7" name="Text 4"/>
          <p:cNvSpPr/>
          <p:nvPr/>
        </p:nvSpPr>
        <p:spPr>
          <a:xfrm>
            <a:off x="1170432" y="5806440"/>
            <a:ext cx="5806440" cy="566928"/>
          </a:xfrm>
          <a:prstGeom prst="rect">
            <a:avLst/>
          </a:prstGeom>
          <a:noFill/>
          <a:ln/>
        </p:spPr>
        <p:txBody>
          <a:bodyPr wrap="square" rtlCol="0" anchor="ctr"/>
          <a:lstStyle/>
          <a:p>
            <a:pPr indent="0" marL="0">
              <a:buNone/>
            </a:pPr>
            <a:r>
              <a:rPr lang="en-US" sz="1150" b="1" i="1" dirty="0">
                <a:solidFill>
                  <a:srgbClr val="028090"/>
                </a:solidFill>
                <a:latin typeface="Calibri" pitchFamily="34" charset="0"/>
                <a:ea typeface="Calibri" pitchFamily="34" charset="-122"/>
                <a:cs typeface="Calibri" pitchFamily="34" charset="-120"/>
              </a:rPr>
              <a:t>A fast, cost-effective decision-support tool — aiding, not replacing, clinical diagnosis.</a:t>
            </a:r>
            <a:endParaRPr lang="en-US" sz="1150" dirty="0"/>
          </a:p>
        </p:txBody>
      </p:sp>
      <p:sp>
        <p:nvSpPr>
          <p:cNvPr id="8" name="Shape 5"/>
          <p:cNvSpPr/>
          <p:nvPr/>
        </p:nvSpPr>
        <p:spPr>
          <a:xfrm>
            <a:off x="7452360" y="1417320"/>
            <a:ext cx="4160520" cy="4956048"/>
          </a:xfrm>
          <a:prstGeom prst="rect">
            <a:avLst>
              <a:gd name="adj" fmla="val 2198"/>
            </a:avLst>
          </a:prstGeom>
          <a:solidFill>
            <a:srgbClr val="023436"/>
          </a:solidFill>
          <a:ln/>
        </p:spPr>
      </p:sp>
      <p:sp>
        <p:nvSpPr>
          <p:cNvPr id="9" name="Text 6"/>
          <p:cNvSpPr/>
          <p:nvPr/>
        </p:nvSpPr>
        <p:spPr>
          <a:xfrm>
            <a:off x="7772400" y="1691640"/>
            <a:ext cx="3520440" cy="320040"/>
          </a:xfrm>
          <a:prstGeom prst="rect">
            <a:avLst/>
          </a:prstGeom>
          <a:noFill/>
          <a:ln/>
        </p:spPr>
        <p:txBody>
          <a:bodyPr wrap="square" rtlCol="0" anchor="ctr"/>
          <a:lstStyle/>
          <a:p>
            <a:pPr indent="0" marL="0">
              <a:buNone/>
            </a:pPr>
            <a:r>
              <a:rPr lang="en-US" sz="1150" b="1" spc="150" kern="0" dirty="0">
                <a:solidFill>
                  <a:srgbClr val="02C39A"/>
                </a:solidFill>
                <a:latin typeface="Calibri" pitchFamily="34" charset="0"/>
                <a:ea typeface="Calibri" pitchFamily="34" charset="-122"/>
                <a:cs typeface="Calibri" pitchFamily="34" charset="-120"/>
              </a:rPr>
              <a:t>CLINICAL INPUT ATTRIBUTES</a:t>
            </a:r>
            <a:endParaRPr lang="en-US" sz="1150" dirty="0"/>
          </a:p>
        </p:txBody>
      </p:sp>
      <p:sp>
        <p:nvSpPr>
          <p:cNvPr id="10" name="Shape 7"/>
          <p:cNvSpPr/>
          <p:nvPr/>
        </p:nvSpPr>
        <p:spPr>
          <a:xfrm>
            <a:off x="7772400" y="2194560"/>
            <a:ext cx="457200" cy="457200"/>
          </a:xfrm>
          <a:prstGeom prst="ellipse">
            <a:avLst/>
          </a:prstGeom>
          <a:solidFill>
            <a:srgbClr val="028090"/>
          </a:solidFill>
          <a:ln/>
        </p:spPr>
      </p:sp>
      <p:pic>
        <p:nvPicPr>
          <p:cNvPr id="11" name="Image 1" descr="icons/userMd_white.png">    </p:cNvPr>
          <p:cNvPicPr>
            <a:picLocks noChangeAspect="1"/>
          </p:cNvPicPr>
          <p:nvPr/>
        </p:nvPicPr>
        <p:blipFill>
          <a:blip r:embed="rId2"/>
          <a:stretch>
            <a:fillRect/>
          </a:stretch>
        </p:blipFill>
        <p:spPr>
          <a:xfrm>
            <a:off x="7882128" y="2304288"/>
            <a:ext cx="237744" cy="237744"/>
          </a:xfrm>
          <a:prstGeom prst="rect">
            <a:avLst/>
          </a:prstGeom>
        </p:spPr>
      </p:pic>
      <p:sp>
        <p:nvSpPr>
          <p:cNvPr id="12" name="Text 8"/>
          <p:cNvSpPr/>
          <p:nvPr/>
        </p:nvSpPr>
        <p:spPr>
          <a:xfrm>
            <a:off x="8366760" y="2194560"/>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Age &amp; Gender</a:t>
            </a:r>
            <a:endParaRPr lang="en-US" sz="1350" dirty="0"/>
          </a:p>
        </p:txBody>
      </p:sp>
      <p:sp>
        <p:nvSpPr>
          <p:cNvPr id="13" name="Shape 9"/>
          <p:cNvSpPr/>
          <p:nvPr/>
        </p:nvSpPr>
        <p:spPr>
          <a:xfrm>
            <a:off x="7772400" y="2816352"/>
            <a:ext cx="457200" cy="457200"/>
          </a:xfrm>
          <a:prstGeom prst="ellipse">
            <a:avLst/>
          </a:prstGeom>
          <a:solidFill>
            <a:srgbClr val="028090"/>
          </a:solidFill>
          <a:ln/>
        </p:spPr>
      </p:sp>
      <p:pic>
        <p:nvPicPr>
          <p:cNvPr id="14" name="Image 2" descr="icons/chartLine_white.png">    </p:cNvPr>
          <p:cNvPicPr>
            <a:picLocks noChangeAspect="1"/>
          </p:cNvPicPr>
          <p:nvPr/>
        </p:nvPicPr>
        <p:blipFill>
          <a:blip r:embed="rId3"/>
          <a:stretch>
            <a:fillRect/>
          </a:stretch>
        </p:blipFill>
        <p:spPr>
          <a:xfrm>
            <a:off x="7882128" y="2926080"/>
            <a:ext cx="237744" cy="237744"/>
          </a:xfrm>
          <a:prstGeom prst="rect">
            <a:avLst/>
          </a:prstGeom>
        </p:spPr>
      </p:pic>
      <p:sp>
        <p:nvSpPr>
          <p:cNvPr id="15" name="Text 10"/>
          <p:cNvSpPr/>
          <p:nvPr/>
        </p:nvSpPr>
        <p:spPr>
          <a:xfrm>
            <a:off x="8366760" y="2816352"/>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Blood Pressure</a:t>
            </a:r>
            <a:endParaRPr lang="en-US" sz="1350" dirty="0"/>
          </a:p>
        </p:txBody>
      </p:sp>
      <p:sp>
        <p:nvSpPr>
          <p:cNvPr id="16" name="Shape 11"/>
          <p:cNvSpPr/>
          <p:nvPr/>
        </p:nvSpPr>
        <p:spPr>
          <a:xfrm>
            <a:off x="7772400" y="3438144"/>
            <a:ext cx="457200" cy="457200"/>
          </a:xfrm>
          <a:prstGeom prst="ellipse">
            <a:avLst/>
          </a:prstGeom>
          <a:solidFill>
            <a:srgbClr val="028090"/>
          </a:solidFill>
          <a:ln/>
        </p:spPr>
      </p:sp>
      <p:pic>
        <p:nvPicPr>
          <p:cNvPr id="17" name="Image 3" descr="icons/chartPie_white.png">    </p:cNvPr>
          <p:cNvPicPr>
            <a:picLocks noChangeAspect="1"/>
          </p:cNvPicPr>
          <p:nvPr/>
        </p:nvPicPr>
        <p:blipFill>
          <a:blip r:embed="rId4"/>
          <a:stretch>
            <a:fillRect/>
          </a:stretch>
        </p:blipFill>
        <p:spPr>
          <a:xfrm>
            <a:off x="7882128" y="3547872"/>
            <a:ext cx="237744" cy="237744"/>
          </a:xfrm>
          <a:prstGeom prst="rect">
            <a:avLst/>
          </a:prstGeom>
        </p:spPr>
      </p:pic>
      <p:sp>
        <p:nvSpPr>
          <p:cNvPr id="18" name="Text 12"/>
          <p:cNvSpPr/>
          <p:nvPr/>
        </p:nvSpPr>
        <p:spPr>
          <a:xfrm>
            <a:off x="8366760" y="3438144"/>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Cholesterol Level</a:t>
            </a:r>
            <a:endParaRPr lang="en-US" sz="1350" dirty="0"/>
          </a:p>
        </p:txBody>
      </p:sp>
      <p:sp>
        <p:nvSpPr>
          <p:cNvPr id="19" name="Shape 13"/>
          <p:cNvSpPr/>
          <p:nvPr/>
        </p:nvSpPr>
        <p:spPr>
          <a:xfrm>
            <a:off x="7772400" y="4059936"/>
            <a:ext cx="457200" cy="457200"/>
          </a:xfrm>
          <a:prstGeom prst="ellipse">
            <a:avLst/>
          </a:prstGeom>
          <a:solidFill>
            <a:srgbClr val="028090"/>
          </a:solidFill>
          <a:ln/>
        </p:spPr>
      </p:sp>
      <p:pic>
        <p:nvPicPr>
          <p:cNvPr id="20" name="Image 4" descr="icons/clipboardList_white.png">    </p:cNvPr>
          <p:cNvPicPr>
            <a:picLocks noChangeAspect="1"/>
          </p:cNvPicPr>
          <p:nvPr/>
        </p:nvPicPr>
        <p:blipFill>
          <a:blip r:embed="rId5"/>
          <a:stretch>
            <a:fillRect/>
          </a:stretch>
        </p:blipFill>
        <p:spPr>
          <a:xfrm>
            <a:off x="7882128" y="4169664"/>
            <a:ext cx="237744" cy="237744"/>
          </a:xfrm>
          <a:prstGeom prst="rect">
            <a:avLst/>
          </a:prstGeom>
        </p:spPr>
      </p:pic>
      <p:sp>
        <p:nvSpPr>
          <p:cNvPr id="21" name="Text 14"/>
          <p:cNvSpPr/>
          <p:nvPr/>
        </p:nvSpPr>
        <p:spPr>
          <a:xfrm>
            <a:off x="8366760" y="4059936"/>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Chest Pain Type</a:t>
            </a:r>
            <a:endParaRPr lang="en-US" sz="1350" dirty="0"/>
          </a:p>
        </p:txBody>
      </p:sp>
      <p:sp>
        <p:nvSpPr>
          <p:cNvPr id="22" name="Shape 15"/>
          <p:cNvSpPr/>
          <p:nvPr/>
        </p:nvSpPr>
        <p:spPr>
          <a:xfrm>
            <a:off x="7772400" y="4681728"/>
            <a:ext cx="457200" cy="457200"/>
          </a:xfrm>
          <a:prstGeom prst="ellipse">
            <a:avLst/>
          </a:prstGeom>
          <a:solidFill>
            <a:srgbClr val="028090"/>
          </a:solidFill>
          <a:ln/>
        </p:spPr>
      </p:sp>
      <p:pic>
        <p:nvPicPr>
          <p:cNvPr id="23" name="Image 5" descr="icons/heartbeat_white.png">    </p:cNvPr>
          <p:cNvPicPr>
            <a:picLocks noChangeAspect="1"/>
          </p:cNvPicPr>
          <p:nvPr/>
        </p:nvPicPr>
        <p:blipFill>
          <a:blip r:embed="rId6"/>
          <a:stretch>
            <a:fillRect/>
          </a:stretch>
        </p:blipFill>
        <p:spPr>
          <a:xfrm>
            <a:off x="7882128" y="4791456"/>
            <a:ext cx="237744" cy="237744"/>
          </a:xfrm>
          <a:prstGeom prst="rect">
            <a:avLst/>
          </a:prstGeom>
        </p:spPr>
      </p:pic>
      <p:sp>
        <p:nvSpPr>
          <p:cNvPr id="24" name="Text 16"/>
          <p:cNvSpPr/>
          <p:nvPr/>
        </p:nvSpPr>
        <p:spPr>
          <a:xfrm>
            <a:off x="8366760" y="4681728"/>
            <a:ext cx="2971800" cy="457200"/>
          </a:xfrm>
          <a:prstGeom prst="rect">
            <a:avLst/>
          </a:prstGeom>
          <a:noFill/>
          <a:ln/>
        </p:spPr>
        <p:txBody>
          <a:bodyPr wrap="square" rtlCol="0" anchor="ctr"/>
          <a:lstStyle/>
          <a:p>
            <a:pPr indent="0" marL="0">
              <a:buNone/>
            </a:pPr>
            <a:r>
              <a:rPr lang="en-US" sz="1350" b="1" dirty="0">
                <a:solidFill>
                  <a:srgbClr val="FFFFFF"/>
                </a:solidFill>
                <a:latin typeface="Calibri" pitchFamily="34" charset="0"/>
                <a:ea typeface="Calibri" pitchFamily="34" charset="-122"/>
                <a:cs typeface="Calibri" pitchFamily="34" charset="-120"/>
              </a:rPr>
              <a:t>Heart Rate</a:t>
            </a:r>
            <a:endParaRPr lang="en-US" sz="1350" dirty="0"/>
          </a:p>
        </p:txBody>
      </p:sp>
      <p:sp>
        <p:nvSpPr>
          <p:cNvPr id="25" name="Text 17"/>
          <p:cNvSpPr/>
          <p:nvPr/>
        </p:nvSpPr>
        <p:spPr>
          <a:xfrm>
            <a:off x="7772400" y="5440680"/>
            <a:ext cx="1097280" cy="640080"/>
          </a:xfrm>
          <a:prstGeom prst="rect">
            <a:avLst/>
          </a:prstGeom>
          <a:noFill/>
          <a:ln/>
        </p:spPr>
        <p:txBody>
          <a:bodyPr wrap="square" rtlCol="0" anchor="ctr"/>
          <a:lstStyle/>
          <a:p>
            <a:pPr indent="0" marL="0">
              <a:buNone/>
            </a:pPr>
            <a:r>
              <a:rPr lang="en-US" sz="4000" b="1" dirty="0">
                <a:solidFill>
                  <a:srgbClr val="02C39A"/>
                </a:solidFill>
                <a:latin typeface="Cambria" pitchFamily="34" charset="0"/>
                <a:ea typeface="Cambria" pitchFamily="34" charset="-122"/>
                <a:cs typeface="Cambria" pitchFamily="34" charset="-120"/>
              </a:rPr>
              <a:t>5</a:t>
            </a:r>
            <a:endParaRPr lang="en-US" sz="4000" dirty="0"/>
          </a:p>
        </p:txBody>
      </p:sp>
      <p:sp>
        <p:nvSpPr>
          <p:cNvPr id="26" name="Text 18"/>
          <p:cNvSpPr/>
          <p:nvPr/>
        </p:nvSpPr>
        <p:spPr>
          <a:xfrm>
            <a:off x="8686800" y="5504688"/>
            <a:ext cx="2606040" cy="548640"/>
          </a:xfrm>
          <a:prstGeom prst="rect">
            <a:avLst/>
          </a:prstGeom>
          <a:noFill/>
          <a:ln/>
        </p:spPr>
        <p:txBody>
          <a:bodyPr wrap="square" rtlCol="0" anchor="ctr"/>
          <a:lstStyle/>
          <a:p>
            <a:pPr indent="0" marL="0">
              <a:buNone/>
            </a:pPr>
            <a:r>
              <a:rPr lang="en-US" sz="1150" dirty="0">
                <a:solidFill>
                  <a:srgbClr val="BFE3DF"/>
                </a:solidFill>
                <a:latin typeface="Calibri" pitchFamily="34" charset="0"/>
                <a:ea typeface="Calibri" pitchFamily="34" charset="-122"/>
                <a:cs typeface="Calibri" pitchFamily="34" charset="-120"/>
              </a:rPr>
              <a:t>metrics used for</a:t>
            </a:r>
            <a:endParaRPr lang="en-US" sz="1150" dirty="0"/>
          </a:p>
          <a:p>
            <a:pPr indent="0" marL="0">
              <a:buNone/>
            </a:pPr>
            <a:r>
              <a:rPr lang="en-US" sz="1150" dirty="0">
                <a:solidFill>
                  <a:srgbClr val="BFE3DF"/>
                </a:solidFill>
                <a:latin typeface="Calibri" pitchFamily="34" charset="0"/>
                <a:ea typeface="Calibri" pitchFamily="34" charset="-122"/>
                <a:cs typeface="Calibri" pitchFamily="34" charset="-120"/>
              </a:rPr>
              <a:t>model comparison</a:t>
            </a:r>
            <a:endParaRPr lang="en-US" sz="1150" dirty="0"/>
          </a:p>
        </p:txBody>
      </p:sp>
      <p:sp>
        <p:nvSpPr>
          <p:cNvPr id="27" name="Text 19"/>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28" name="Text 20"/>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3</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THE PROBLEM TODAY</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Existing System</a:t>
            </a:r>
            <a:endParaRPr lang="en-US" sz="3400" dirty="0"/>
          </a:p>
        </p:txBody>
      </p:sp>
      <p:sp>
        <p:nvSpPr>
          <p:cNvPr id="4" name="Shape 2"/>
          <p:cNvSpPr/>
          <p:nvPr/>
        </p:nvSpPr>
        <p:spPr>
          <a:xfrm>
            <a:off x="548640" y="15087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5" name="Shape 3"/>
          <p:cNvSpPr/>
          <p:nvPr/>
        </p:nvSpPr>
        <p:spPr>
          <a:xfrm>
            <a:off x="749808" y="1655064"/>
            <a:ext cx="502920" cy="502920"/>
          </a:xfrm>
          <a:prstGeom prst="ellipse">
            <a:avLst/>
          </a:prstGeom>
          <a:solidFill>
            <a:srgbClr val="EAF5F3"/>
          </a:solidFill>
          <a:ln/>
        </p:spPr>
      </p:sp>
      <p:pic>
        <p:nvPicPr>
          <p:cNvPr id="6" name="Image 0" descr="icons/userMd_teal.png">    </p:cNvPr>
          <p:cNvPicPr>
            <a:picLocks noChangeAspect="1"/>
          </p:cNvPicPr>
          <p:nvPr/>
        </p:nvPicPr>
        <p:blipFill>
          <a:blip r:embed="rId1"/>
          <a:stretch>
            <a:fillRect/>
          </a:stretch>
        </p:blipFill>
        <p:spPr>
          <a:xfrm>
            <a:off x="873252" y="1769364"/>
            <a:ext cx="274320" cy="274320"/>
          </a:xfrm>
          <a:prstGeom prst="rect">
            <a:avLst/>
          </a:prstGeom>
        </p:spPr>
      </p:pic>
      <p:sp>
        <p:nvSpPr>
          <p:cNvPr id="7" name="Text 4"/>
          <p:cNvSpPr/>
          <p:nvPr/>
        </p:nvSpPr>
        <p:spPr>
          <a:xfrm>
            <a:off x="1508760" y="15819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Manual Clinical Evaluation</a:t>
            </a:r>
            <a:endParaRPr lang="en-US" sz="1300" dirty="0"/>
          </a:p>
        </p:txBody>
      </p:sp>
      <p:sp>
        <p:nvSpPr>
          <p:cNvPr id="8" name="Text 5"/>
          <p:cNvSpPr/>
          <p:nvPr/>
        </p:nvSpPr>
        <p:spPr>
          <a:xfrm>
            <a:off x="4389120" y="15636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Diagnosis today relies mainly on manual clinical evaluation, ECGs, and lab tests interpreted by specialists.</a:t>
            </a:r>
            <a:endParaRPr lang="en-US" sz="1150" dirty="0"/>
          </a:p>
        </p:txBody>
      </p:sp>
      <p:sp>
        <p:nvSpPr>
          <p:cNvPr id="9" name="Shape 6"/>
          <p:cNvSpPr/>
          <p:nvPr/>
        </p:nvSpPr>
        <p:spPr>
          <a:xfrm>
            <a:off x="548640" y="24231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10" name="Shape 7"/>
          <p:cNvSpPr/>
          <p:nvPr/>
        </p:nvSpPr>
        <p:spPr>
          <a:xfrm>
            <a:off x="749808" y="2569464"/>
            <a:ext cx="502920" cy="502920"/>
          </a:xfrm>
          <a:prstGeom prst="ellipse">
            <a:avLst/>
          </a:prstGeom>
          <a:solidFill>
            <a:srgbClr val="EAF5F3"/>
          </a:solidFill>
          <a:ln/>
        </p:spPr>
      </p:sp>
      <p:pic>
        <p:nvPicPr>
          <p:cNvPr id="11" name="Image 1" descr="icons/clock_teal.png">    </p:cNvPr>
          <p:cNvPicPr>
            <a:picLocks noChangeAspect="1"/>
          </p:cNvPicPr>
          <p:nvPr/>
        </p:nvPicPr>
        <p:blipFill>
          <a:blip r:embed="rId2"/>
          <a:stretch>
            <a:fillRect/>
          </a:stretch>
        </p:blipFill>
        <p:spPr>
          <a:xfrm>
            <a:off x="873252" y="2683764"/>
            <a:ext cx="274320" cy="274320"/>
          </a:xfrm>
          <a:prstGeom prst="rect">
            <a:avLst/>
          </a:prstGeom>
        </p:spPr>
      </p:pic>
      <p:sp>
        <p:nvSpPr>
          <p:cNvPr id="12" name="Text 8"/>
          <p:cNvSpPr/>
          <p:nvPr/>
        </p:nvSpPr>
        <p:spPr>
          <a:xfrm>
            <a:off x="1508760" y="24963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Time-Consuming &amp; Costly</a:t>
            </a:r>
            <a:endParaRPr lang="en-US" sz="1300" dirty="0"/>
          </a:p>
        </p:txBody>
      </p:sp>
      <p:sp>
        <p:nvSpPr>
          <p:cNvPr id="13" name="Text 9"/>
          <p:cNvSpPr/>
          <p:nvPr/>
        </p:nvSpPr>
        <p:spPr>
          <a:xfrm>
            <a:off x="4389120" y="24780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Conventional diagnostic methods are time-consuming, expensive, and heavily dependent on physician expertise.</a:t>
            </a:r>
            <a:endParaRPr lang="en-US" sz="1150" dirty="0"/>
          </a:p>
        </p:txBody>
      </p:sp>
      <p:sp>
        <p:nvSpPr>
          <p:cNvPr id="14" name="Shape 10"/>
          <p:cNvSpPr/>
          <p:nvPr/>
        </p:nvSpPr>
        <p:spPr>
          <a:xfrm>
            <a:off x="548640" y="33375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15" name="Shape 11"/>
          <p:cNvSpPr/>
          <p:nvPr/>
        </p:nvSpPr>
        <p:spPr>
          <a:xfrm>
            <a:off x="749808" y="3483864"/>
            <a:ext cx="502920" cy="502920"/>
          </a:xfrm>
          <a:prstGeom prst="ellipse">
            <a:avLst/>
          </a:prstGeom>
          <a:solidFill>
            <a:srgbClr val="EAF5F3"/>
          </a:solidFill>
          <a:ln/>
        </p:spPr>
      </p:sp>
      <p:pic>
        <p:nvPicPr>
          <p:cNvPr id="16" name="Image 2" descr="icons/ban_teal.png">    </p:cNvPr>
          <p:cNvPicPr>
            <a:picLocks noChangeAspect="1"/>
          </p:cNvPicPr>
          <p:nvPr/>
        </p:nvPicPr>
        <p:blipFill>
          <a:blip r:embed="rId3"/>
          <a:stretch>
            <a:fillRect/>
          </a:stretch>
        </p:blipFill>
        <p:spPr>
          <a:xfrm>
            <a:off x="873252" y="3598164"/>
            <a:ext cx="274320" cy="274320"/>
          </a:xfrm>
          <a:prstGeom prst="rect">
            <a:avLst/>
          </a:prstGeom>
        </p:spPr>
      </p:pic>
      <p:sp>
        <p:nvSpPr>
          <p:cNvPr id="17" name="Text 12"/>
          <p:cNvSpPr/>
          <p:nvPr/>
        </p:nvSpPr>
        <p:spPr>
          <a:xfrm>
            <a:off x="1508760" y="34107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Isolated Analysis</a:t>
            </a:r>
            <a:endParaRPr lang="en-US" sz="1300" dirty="0"/>
          </a:p>
        </p:txBody>
      </p:sp>
      <p:sp>
        <p:nvSpPr>
          <p:cNvPr id="18" name="Text 13"/>
          <p:cNvSpPr/>
          <p:nvPr/>
        </p:nvSpPr>
        <p:spPr>
          <a:xfrm>
            <a:off x="4389120" y="33924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Test results are largely analysed in isolation, with limited use of data-driven pattern recognition.</a:t>
            </a:r>
            <a:endParaRPr lang="en-US" sz="1150" dirty="0"/>
          </a:p>
        </p:txBody>
      </p:sp>
      <p:sp>
        <p:nvSpPr>
          <p:cNvPr id="19" name="Shape 14"/>
          <p:cNvSpPr/>
          <p:nvPr/>
        </p:nvSpPr>
        <p:spPr>
          <a:xfrm>
            <a:off x="548640" y="42519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20" name="Shape 15"/>
          <p:cNvSpPr/>
          <p:nvPr/>
        </p:nvSpPr>
        <p:spPr>
          <a:xfrm>
            <a:off x="749808" y="4398264"/>
            <a:ext cx="502920" cy="502920"/>
          </a:xfrm>
          <a:prstGeom prst="ellipse">
            <a:avLst/>
          </a:prstGeom>
          <a:solidFill>
            <a:srgbClr val="EAF5F3"/>
          </a:solidFill>
          <a:ln/>
        </p:spPr>
      </p:sp>
      <p:pic>
        <p:nvPicPr>
          <p:cNvPr id="21" name="Image 3" descr="icons/triangleExclaim_teal.png">    </p:cNvPr>
          <p:cNvPicPr>
            <a:picLocks noChangeAspect="1"/>
          </p:cNvPicPr>
          <p:nvPr/>
        </p:nvPicPr>
        <p:blipFill>
          <a:blip r:embed="rId4"/>
          <a:stretch>
            <a:fillRect/>
          </a:stretch>
        </p:blipFill>
        <p:spPr>
          <a:xfrm>
            <a:off x="873252" y="4512564"/>
            <a:ext cx="274320" cy="274320"/>
          </a:xfrm>
          <a:prstGeom prst="rect">
            <a:avLst/>
          </a:prstGeom>
        </p:spPr>
      </p:pic>
      <p:sp>
        <p:nvSpPr>
          <p:cNvPr id="22" name="Text 16"/>
          <p:cNvSpPr/>
          <p:nvPr/>
        </p:nvSpPr>
        <p:spPr>
          <a:xfrm>
            <a:off x="1508760" y="43251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Delayed Interpretation</a:t>
            </a:r>
            <a:endParaRPr lang="en-US" sz="1300" dirty="0"/>
          </a:p>
        </p:txBody>
      </p:sp>
      <p:sp>
        <p:nvSpPr>
          <p:cNvPr id="23" name="Text 17"/>
          <p:cNvSpPr/>
          <p:nvPr/>
        </p:nvSpPr>
        <p:spPr>
          <a:xfrm>
            <a:off x="4389120" y="43068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Delayed or inconsistent interpretation of results can slow diagnosis and postpone timely treatment.</a:t>
            </a:r>
            <a:endParaRPr lang="en-US" sz="1150" dirty="0"/>
          </a:p>
        </p:txBody>
      </p:sp>
      <p:sp>
        <p:nvSpPr>
          <p:cNvPr id="24" name="Shape 18"/>
          <p:cNvSpPr/>
          <p:nvPr/>
        </p:nvSpPr>
        <p:spPr>
          <a:xfrm>
            <a:off x="548640" y="51663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25" name="Shape 19"/>
          <p:cNvSpPr/>
          <p:nvPr/>
        </p:nvSpPr>
        <p:spPr>
          <a:xfrm>
            <a:off x="749808" y="5312664"/>
            <a:ext cx="502920" cy="502920"/>
          </a:xfrm>
          <a:prstGeom prst="ellipse">
            <a:avLst/>
          </a:prstGeom>
          <a:solidFill>
            <a:srgbClr val="EAF5F3"/>
          </a:solidFill>
          <a:ln/>
        </p:spPr>
      </p:sp>
      <p:pic>
        <p:nvPicPr>
          <p:cNvPr id="26" name="Image 4" descr="icons/dollar_teal.png">    </p:cNvPr>
          <p:cNvPicPr>
            <a:picLocks noChangeAspect="1"/>
          </p:cNvPicPr>
          <p:nvPr/>
        </p:nvPicPr>
        <p:blipFill>
          <a:blip r:embed="rId5"/>
          <a:stretch>
            <a:fillRect/>
          </a:stretch>
        </p:blipFill>
        <p:spPr>
          <a:xfrm>
            <a:off x="873252" y="5426964"/>
            <a:ext cx="274320" cy="274320"/>
          </a:xfrm>
          <a:prstGeom prst="rect">
            <a:avLst/>
          </a:prstGeom>
        </p:spPr>
      </p:pic>
      <p:sp>
        <p:nvSpPr>
          <p:cNvPr id="27" name="Text 20"/>
          <p:cNvSpPr/>
          <p:nvPr/>
        </p:nvSpPr>
        <p:spPr>
          <a:xfrm>
            <a:off x="1508760" y="52395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No Automated Screening</a:t>
            </a:r>
            <a:endParaRPr lang="en-US" sz="1300" dirty="0"/>
          </a:p>
        </p:txBody>
      </p:sp>
      <p:sp>
        <p:nvSpPr>
          <p:cNvPr id="28" name="Text 21"/>
          <p:cNvSpPr/>
          <p:nvPr/>
        </p:nvSpPr>
        <p:spPr>
          <a:xfrm>
            <a:off x="4389120" y="52212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There is no automated, data-driven tool in routine use to flag at-risk patients at an early stage.</a:t>
            </a:r>
            <a:endParaRPr lang="en-US" sz="1150" dirty="0"/>
          </a:p>
        </p:txBody>
      </p:sp>
      <p:sp>
        <p:nvSpPr>
          <p:cNvPr id="29" name="Text 22"/>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30" name="Text 2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4</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OUR SOLUTION</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Proposed System</a:t>
            </a:r>
            <a:endParaRPr lang="en-US" sz="3400" dirty="0"/>
          </a:p>
        </p:txBody>
      </p:sp>
      <p:sp>
        <p:nvSpPr>
          <p:cNvPr id="4" name="Shape 2"/>
          <p:cNvSpPr/>
          <p:nvPr/>
        </p:nvSpPr>
        <p:spPr>
          <a:xfrm>
            <a:off x="548640" y="15087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5" name="Shape 3"/>
          <p:cNvSpPr/>
          <p:nvPr/>
        </p:nvSpPr>
        <p:spPr>
          <a:xfrm>
            <a:off x="749808" y="1655064"/>
            <a:ext cx="502920" cy="502920"/>
          </a:xfrm>
          <a:prstGeom prst="ellipse">
            <a:avLst/>
          </a:prstGeom>
          <a:solidFill>
            <a:srgbClr val="028090"/>
          </a:solidFill>
          <a:ln/>
        </p:spPr>
      </p:sp>
      <p:pic>
        <p:nvPicPr>
          <p:cNvPr id="6" name="Image 0" descr="icons/cogs_white.png">    </p:cNvPr>
          <p:cNvPicPr>
            <a:picLocks noChangeAspect="1"/>
          </p:cNvPicPr>
          <p:nvPr/>
        </p:nvPicPr>
        <p:blipFill>
          <a:blip r:embed="rId1"/>
          <a:stretch>
            <a:fillRect/>
          </a:stretch>
        </p:blipFill>
        <p:spPr>
          <a:xfrm>
            <a:off x="873252" y="1769364"/>
            <a:ext cx="274320" cy="274320"/>
          </a:xfrm>
          <a:prstGeom prst="rect">
            <a:avLst/>
          </a:prstGeom>
        </p:spPr>
      </p:pic>
      <p:sp>
        <p:nvSpPr>
          <p:cNvPr id="7" name="Text 4"/>
          <p:cNvSpPr/>
          <p:nvPr/>
        </p:nvSpPr>
        <p:spPr>
          <a:xfrm>
            <a:off x="1508760" y="15819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Supervised ML Pipeline</a:t>
            </a:r>
            <a:endParaRPr lang="en-US" sz="1300" dirty="0"/>
          </a:p>
        </p:txBody>
      </p:sp>
      <p:sp>
        <p:nvSpPr>
          <p:cNvPr id="8" name="Text 5"/>
          <p:cNvSpPr/>
          <p:nvPr/>
        </p:nvSpPr>
        <p:spPr>
          <a:xfrm>
            <a:off x="4389120" y="15636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A supervised machine learning pipeline predicts heart disease risk directly from patient health records.</a:t>
            </a:r>
            <a:endParaRPr lang="en-US" sz="1150" dirty="0"/>
          </a:p>
        </p:txBody>
      </p:sp>
      <p:sp>
        <p:nvSpPr>
          <p:cNvPr id="9" name="Shape 6"/>
          <p:cNvSpPr/>
          <p:nvPr/>
        </p:nvSpPr>
        <p:spPr>
          <a:xfrm>
            <a:off x="548640" y="24231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10" name="Shape 7"/>
          <p:cNvSpPr/>
          <p:nvPr/>
        </p:nvSpPr>
        <p:spPr>
          <a:xfrm>
            <a:off x="749808" y="2569464"/>
            <a:ext cx="502920" cy="502920"/>
          </a:xfrm>
          <a:prstGeom prst="ellipse">
            <a:avLst/>
          </a:prstGeom>
          <a:solidFill>
            <a:srgbClr val="028090"/>
          </a:solidFill>
          <a:ln/>
        </p:spPr>
      </p:sp>
      <p:pic>
        <p:nvPicPr>
          <p:cNvPr id="11" name="Image 1" descr="icons/balanceScale_white.png">    </p:cNvPr>
          <p:cNvPicPr>
            <a:picLocks noChangeAspect="1"/>
          </p:cNvPicPr>
          <p:nvPr/>
        </p:nvPicPr>
        <p:blipFill>
          <a:blip r:embed="rId2"/>
          <a:stretch>
            <a:fillRect/>
          </a:stretch>
        </p:blipFill>
        <p:spPr>
          <a:xfrm>
            <a:off x="873252" y="2683764"/>
            <a:ext cx="274320" cy="274320"/>
          </a:xfrm>
          <a:prstGeom prst="rect">
            <a:avLst/>
          </a:prstGeom>
        </p:spPr>
      </p:pic>
      <p:sp>
        <p:nvSpPr>
          <p:cNvPr id="12" name="Text 8"/>
          <p:cNvSpPr/>
          <p:nvPr/>
        </p:nvSpPr>
        <p:spPr>
          <a:xfrm>
            <a:off x="1508760" y="24963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Three Models Benchmarked</a:t>
            </a:r>
            <a:endParaRPr lang="en-US" sz="1300" dirty="0"/>
          </a:p>
        </p:txBody>
      </p:sp>
      <p:sp>
        <p:nvSpPr>
          <p:cNvPr id="13" name="Text 9"/>
          <p:cNvSpPr/>
          <p:nvPr/>
        </p:nvSpPr>
        <p:spPr>
          <a:xfrm>
            <a:off x="4389120" y="24780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Combines Logistic Regression, SVM, and KNN so their predictions can be trained and benchmarked together.</a:t>
            </a:r>
            <a:endParaRPr lang="en-US" sz="1150" dirty="0"/>
          </a:p>
        </p:txBody>
      </p:sp>
      <p:sp>
        <p:nvSpPr>
          <p:cNvPr id="14" name="Shape 10"/>
          <p:cNvSpPr/>
          <p:nvPr/>
        </p:nvSpPr>
        <p:spPr>
          <a:xfrm>
            <a:off x="548640" y="33375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15" name="Shape 11"/>
          <p:cNvSpPr/>
          <p:nvPr/>
        </p:nvSpPr>
        <p:spPr>
          <a:xfrm>
            <a:off x="749808" y="3483864"/>
            <a:ext cx="502920" cy="502920"/>
          </a:xfrm>
          <a:prstGeom prst="ellipse">
            <a:avLst/>
          </a:prstGeom>
          <a:solidFill>
            <a:srgbClr val="028090"/>
          </a:solidFill>
          <a:ln/>
        </p:spPr>
      </p:sp>
      <p:pic>
        <p:nvPicPr>
          <p:cNvPr id="16" name="Image 2" descr="icons/clipboardList_white.png">    </p:cNvPr>
          <p:cNvPicPr>
            <a:picLocks noChangeAspect="1"/>
          </p:cNvPicPr>
          <p:nvPr/>
        </p:nvPicPr>
        <p:blipFill>
          <a:blip r:embed="rId3"/>
          <a:stretch>
            <a:fillRect/>
          </a:stretch>
        </p:blipFill>
        <p:spPr>
          <a:xfrm>
            <a:off x="873252" y="3598164"/>
            <a:ext cx="274320" cy="274320"/>
          </a:xfrm>
          <a:prstGeom prst="rect">
            <a:avLst/>
          </a:prstGeom>
        </p:spPr>
      </p:pic>
      <p:sp>
        <p:nvSpPr>
          <p:cNvPr id="17" name="Text 12"/>
          <p:cNvSpPr/>
          <p:nvPr/>
        </p:nvSpPr>
        <p:spPr>
          <a:xfrm>
            <a:off x="1508760" y="34107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Clinical Parameters as Input</a:t>
            </a:r>
            <a:endParaRPr lang="en-US" sz="1300" dirty="0"/>
          </a:p>
        </p:txBody>
      </p:sp>
      <p:sp>
        <p:nvSpPr>
          <p:cNvPr id="18" name="Text 13"/>
          <p:cNvSpPr/>
          <p:nvPr/>
        </p:nvSpPr>
        <p:spPr>
          <a:xfrm>
            <a:off x="4389120" y="33924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Uses age, blood pressure, cholesterol, chest pain type, and heart rate as model inputs.</a:t>
            </a:r>
            <a:endParaRPr lang="en-US" sz="1150" dirty="0"/>
          </a:p>
        </p:txBody>
      </p:sp>
      <p:sp>
        <p:nvSpPr>
          <p:cNvPr id="19" name="Shape 14"/>
          <p:cNvSpPr/>
          <p:nvPr/>
        </p:nvSpPr>
        <p:spPr>
          <a:xfrm>
            <a:off x="548640" y="42519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20" name="Shape 15"/>
          <p:cNvSpPr/>
          <p:nvPr/>
        </p:nvSpPr>
        <p:spPr>
          <a:xfrm>
            <a:off x="749808" y="4398264"/>
            <a:ext cx="502920" cy="502920"/>
          </a:xfrm>
          <a:prstGeom prst="ellipse">
            <a:avLst/>
          </a:prstGeom>
          <a:solidFill>
            <a:srgbClr val="028090"/>
          </a:solidFill>
          <a:ln/>
        </p:spPr>
      </p:sp>
      <p:pic>
        <p:nvPicPr>
          <p:cNvPr id="21" name="Image 3" descr="icons/chartLine_white.png">    </p:cNvPr>
          <p:cNvPicPr>
            <a:picLocks noChangeAspect="1"/>
          </p:cNvPicPr>
          <p:nvPr/>
        </p:nvPicPr>
        <p:blipFill>
          <a:blip r:embed="rId4"/>
          <a:stretch>
            <a:fillRect/>
          </a:stretch>
        </p:blipFill>
        <p:spPr>
          <a:xfrm>
            <a:off x="873252" y="4512564"/>
            <a:ext cx="274320" cy="274320"/>
          </a:xfrm>
          <a:prstGeom prst="rect">
            <a:avLst/>
          </a:prstGeom>
        </p:spPr>
      </p:pic>
      <p:sp>
        <p:nvSpPr>
          <p:cNvPr id="22" name="Text 16"/>
          <p:cNvSpPr/>
          <p:nvPr/>
        </p:nvSpPr>
        <p:spPr>
          <a:xfrm>
            <a:off x="1508760" y="43251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Metric-Driven Selection</a:t>
            </a:r>
            <a:endParaRPr lang="en-US" sz="1300" dirty="0"/>
          </a:p>
        </p:txBody>
      </p:sp>
      <p:sp>
        <p:nvSpPr>
          <p:cNvPr id="23" name="Text 17"/>
          <p:cNvSpPr/>
          <p:nvPr/>
        </p:nvSpPr>
        <p:spPr>
          <a:xfrm>
            <a:off x="4389120" y="43068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Selects the best-performing algorithm using accuracy, precision, recall, F1-score, and confusion matrix.</a:t>
            </a:r>
            <a:endParaRPr lang="en-US" sz="1150" dirty="0"/>
          </a:p>
        </p:txBody>
      </p:sp>
      <p:sp>
        <p:nvSpPr>
          <p:cNvPr id="24" name="Shape 18"/>
          <p:cNvSpPr/>
          <p:nvPr/>
        </p:nvSpPr>
        <p:spPr>
          <a:xfrm>
            <a:off x="548640" y="5166360"/>
            <a:ext cx="11064240" cy="786384"/>
          </a:xfrm>
          <a:prstGeom prst="rect">
            <a:avLst>
              <a:gd name="adj" fmla="val 8140"/>
            </a:avLst>
          </a:prstGeom>
          <a:solidFill>
            <a:srgbClr val="FFFFFF"/>
          </a:solidFill>
          <a:ln/>
          <a:effectLst>
            <a:outerShdw sx="100000" sy="100000" kx="0" ky="0" algn="bl" rotWithShape="0" blurRad="76200" dist="25400" dir="5400000">
              <a:srgbClr val="1B4B4B">
                <a:alpha val="12000"/>
              </a:srgbClr>
            </a:outerShdw>
          </a:effectLst>
        </p:spPr>
      </p:sp>
      <p:sp>
        <p:nvSpPr>
          <p:cNvPr id="25" name="Shape 19"/>
          <p:cNvSpPr/>
          <p:nvPr/>
        </p:nvSpPr>
        <p:spPr>
          <a:xfrm>
            <a:off x="749808" y="5312664"/>
            <a:ext cx="502920" cy="502920"/>
          </a:xfrm>
          <a:prstGeom prst="ellipse">
            <a:avLst/>
          </a:prstGeom>
          <a:solidFill>
            <a:srgbClr val="028090"/>
          </a:solidFill>
          <a:ln/>
        </p:spPr>
      </p:sp>
      <p:pic>
        <p:nvPicPr>
          <p:cNvPr id="26" name="Image 4" descr="icons/bolt_white.png">    </p:cNvPr>
          <p:cNvPicPr>
            <a:picLocks noChangeAspect="1"/>
          </p:cNvPicPr>
          <p:nvPr/>
        </p:nvPicPr>
        <p:blipFill>
          <a:blip r:embed="rId5"/>
          <a:stretch>
            <a:fillRect/>
          </a:stretch>
        </p:blipFill>
        <p:spPr>
          <a:xfrm>
            <a:off x="873252" y="5426964"/>
            <a:ext cx="274320" cy="274320"/>
          </a:xfrm>
          <a:prstGeom prst="rect">
            <a:avLst/>
          </a:prstGeom>
        </p:spPr>
      </p:pic>
      <p:sp>
        <p:nvSpPr>
          <p:cNvPr id="27" name="Text 20"/>
          <p:cNvSpPr/>
          <p:nvPr/>
        </p:nvSpPr>
        <p:spPr>
          <a:xfrm>
            <a:off x="1508760" y="5239512"/>
            <a:ext cx="2788920" cy="640080"/>
          </a:xfrm>
          <a:prstGeom prst="rect">
            <a:avLst/>
          </a:prstGeom>
          <a:noFill/>
          <a:ln/>
        </p:spPr>
        <p:txBody>
          <a:bodyPr wrap="square" rtlCol="0" anchor="ctr"/>
          <a:lstStyle/>
          <a:p>
            <a:pPr indent="0" marL="0">
              <a:buNone/>
            </a:pPr>
            <a:r>
              <a:rPr lang="en-US" sz="1300" b="1" dirty="0">
                <a:solidFill>
                  <a:srgbClr val="028090"/>
                </a:solidFill>
                <a:latin typeface="Calibri" pitchFamily="34" charset="0"/>
                <a:ea typeface="Calibri" pitchFamily="34" charset="-122"/>
                <a:cs typeface="Calibri" pitchFamily="34" charset="-120"/>
              </a:rPr>
              <a:t>Fast &amp; Consistent</a:t>
            </a:r>
            <a:endParaRPr lang="en-US" sz="1300" dirty="0"/>
          </a:p>
        </p:txBody>
      </p:sp>
      <p:sp>
        <p:nvSpPr>
          <p:cNvPr id="28" name="Text 21"/>
          <p:cNvSpPr/>
          <p:nvPr/>
        </p:nvSpPr>
        <p:spPr>
          <a:xfrm>
            <a:off x="4389120" y="5221224"/>
            <a:ext cx="7040880" cy="685800"/>
          </a:xfrm>
          <a:prstGeom prst="rect">
            <a:avLst/>
          </a:prstGeom>
          <a:noFill/>
          <a:ln/>
        </p:spPr>
        <p:txBody>
          <a:bodyPr wrap="square" rtlCol="0" anchor="ctr"/>
          <a:lstStyle/>
          <a:p>
            <a:pPr indent="0" marL="0">
              <a:lnSpc>
                <a:spcPct val="112000"/>
              </a:lnSpc>
              <a:buNone/>
            </a:pPr>
            <a:r>
              <a:rPr lang="en-US" sz="1150" dirty="0">
                <a:solidFill>
                  <a:srgbClr val="0B2B2C"/>
                </a:solidFill>
                <a:latin typeface="Calibri" pitchFamily="34" charset="0"/>
                <a:ea typeface="Calibri" pitchFamily="34" charset="-122"/>
                <a:cs typeface="Calibri" pitchFamily="34" charset="-120"/>
              </a:rPr>
              <a:t>Delivers fast, low-cost, and consistent predictions that support — rather than replace — clinical judgement.</a:t>
            </a:r>
            <a:endParaRPr lang="en-US" sz="1150" dirty="0"/>
          </a:p>
        </p:txBody>
      </p:sp>
      <p:sp>
        <p:nvSpPr>
          <p:cNvPr id="29" name="Text 22"/>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30" name="Text 2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5</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23436"/>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SYSTEM ARCHITECTURE</a:t>
            </a:r>
            <a:endParaRPr lang="en-US" sz="1200" dirty="0"/>
          </a:p>
        </p:txBody>
      </p:sp>
      <p:sp>
        <p:nvSpPr>
          <p:cNvPr id="3" name="Text 1"/>
          <p:cNvSpPr/>
          <p:nvPr/>
        </p:nvSpPr>
        <p:spPr>
          <a:xfrm>
            <a:off x="548640" y="566928"/>
            <a:ext cx="9144000" cy="640080"/>
          </a:xfrm>
          <a:prstGeom prst="rect">
            <a:avLst/>
          </a:prstGeom>
          <a:noFill/>
          <a:ln/>
        </p:spPr>
        <p:txBody>
          <a:bodyPr wrap="square"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Prediction Pipeline</a:t>
            </a:r>
            <a:endParaRPr lang="en-US" sz="3200" dirty="0"/>
          </a:p>
        </p:txBody>
      </p:sp>
      <p:sp>
        <p:nvSpPr>
          <p:cNvPr id="4" name="Shape 2"/>
          <p:cNvSpPr/>
          <p:nvPr/>
        </p:nvSpPr>
        <p:spPr>
          <a:xfrm>
            <a:off x="289408" y="1965960"/>
            <a:ext cx="1691640" cy="1600200"/>
          </a:xfrm>
          <a:prstGeom prst="roundRect">
            <a:avLst>
              <a:gd name="adj" fmla="val 6857"/>
            </a:avLst>
          </a:prstGeom>
          <a:solidFill>
            <a:srgbClr val="028090"/>
          </a:solidFill>
          <a:ln/>
          <a:effectLst>
            <a:outerShdw sx="100000" sy="100000" kx="0" ky="0" algn="bl" rotWithShape="0" blurRad="127000" dist="50800" dir="5400000">
              <a:srgbClr val="000000">
                <a:alpha val="30000"/>
              </a:srgbClr>
            </a:outerShdw>
          </a:effectLst>
        </p:spPr>
      </p:sp>
      <p:sp>
        <p:nvSpPr>
          <p:cNvPr id="5" name="Shape 3"/>
          <p:cNvSpPr/>
          <p:nvPr/>
        </p:nvSpPr>
        <p:spPr>
          <a:xfrm>
            <a:off x="879196" y="2130552"/>
            <a:ext cx="512064" cy="512064"/>
          </a:xfrm>
          <a:prstGeom prst="ellipse">
            <a:avLst/>
          </a:prstGeom>
          <a:solidFill>
            <a:srgbClr val="011E1F">
              <a:alpha val="85000"/>
            </a:srgbClr>
          </a:solidFill>
          <a:ln/>
        </p:spPr>
      </p:sp>
      <p:pic>
        <p:nvPicPr>
          <p:cNvPr id="6" name="Image 0" descr="icons/database_mint.png">    </p:cNvPr>
          <p:cNvPicPr>
            <a:picLocks noChangeAspect="1"/>
          </p:cNvPicPr>
          <p:nvPr/>
        </p:nvPicPr>
        <p:blipFill>
          <a:blip r:embed="rId1"/>
          <a:stretch>
            <a:fillRect/>
          </a:stretch>
        </p:blipFill>
        <p:spPr>
          <a:xfrm>
            <a:off x="988924" y="2240280"/>
            <a:ext cx="292608" cy="292608"/>
          </a:xfrm>
          <a:prstGeom prst="rect">
            <a:avLst/>
          </a:prstGeom>
        </p:spPr>
      </p:pic>
      <p:sp>
        <p:nvSpPr>
          <p:cNvPr id="7" name="Text 4"/>
          <p:cNvSpPr/>
          <p:nvPr/>
        </p:nvSpPr>
        <p:spPr>
          <a:xfrm>
            <a:off x="362560"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Collection</a:t>
            </a:r>
            <a:endParaRPr lang="en-US" sz="1200" dirty="0"/>
          </a:p>
        </p:txBody>
      </p:sp>
      <p:sp>
        <p:nvSpPr>
          <p:cNvPr id="8" name="Text 5"/>
          <p:cNvSpPr/>
          <p:nvPr/>
        </p:nvSpPr>
        <p:spPr>
          <a:xfrm>
            <a:off x="1597000"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1</a:t>
            </a:r>
            <a:endParaRPr lang="en-US" sz="1400" dirty="0"/>
          </a:p>
        </p:txBody>
      </p:sp>
      <p:sp>
        <p:nvSpPr>
          <p:cNvPr id="9" name="Text 6"/>
          <p:cNvSpPr/>
          <p:nvPr/>
        </p:nvSpPr>
        <p:spPr>
          <a:xfrm>
            <a:off x="1981048" y="2473452"/>
            <a:ext cx="292608" cy="585216"/>
          </a:xfrm>
          <a:prstGeom prst="rect">
            <a:avLst/>
          </a:prstGeom>
          <a:noFill/>
          <a:ln/>
        </p:spPr>
        <p:txBody>
          <a:bodyPr wrap="square" rtlCol="0" anchor="ctr"/>
          <a:lstStyle/>
          <a:p>
            <a:pPr algn="ctr" indent="0" marL="0">
              <a:buNone/>
            </a:pPr>
            <a:r>
              <a:rPr lang="en-US" sz="2200" b="1" dirty="0">
                <a:solidFill>
                  <a:srgbClr val="02C39A"/>
                </a:solidFill>
                <a:latin typeface="Calibri" pitchFamily="34" charset="0"/>
                <a:ea typeface="Calibri" pitchFamily="34" charset="-122"/>
                <a:cs typeface="Calibri" pitchFamily="34" charset="-120"/>
              </a:rPr>
              <a:t>→</a:t>
            </a:r>
            <a:endParaRPr lang="en-US" sz="2200" dirty="0"/>
          </a:p>
        </p:txBody>
      </p:sp>
      <p:sp>
        <p:nvSpPr>
          <p:cNvPr id="10" name="Shape 7"/>
          <p:cNvSpPr/>
          <p:nvPr/>
        </p:nvSpPr>
        <p:spPr>
          <a:xfrm>
            <a:off x="2273656" y="1965960"/>
            <a:ext cx="1691640" cy="1600200"/>
          </a:xfrm>
          <a:prstGeom prst="roundRect">
            <a:avLst>
              <a:gd name="adj" fmla="val 6857"/>
            </a:avLst>
          </a:prstGeom>
          <a:solidFill>
            <a:srgbClr val="00A896"/>
          </a:solidFill>
          <a:ln/>
          <a:effectLst>
            <a:outerShdw sx="100000" sy="100000" kx="0" ky="0" algn="bl" rotWithShape="0" blurRad="127000" dist="50800" dir="5400000">
              <a:srgbClr val="000000">
                <a:alpha val="30000"/>
              </a:srgbClr>
            </a:outerShdw>
          </a:effectLst>
        </p:spPr>
      </p:sp>
      <p:sp>
        <p:nvSpPr>
          <p:cNvPr id="11" name="Shape 8"/>
          <p:cNvSpPr/>
          <p:nvPr/>
        </p:nvSpPr>
        <p:spPr>
          <a:xfrm>
            <a:off x="2863444" y="2130552"/>
            <a:ext cx="512064" cy="512064"/>
          </a:xfrm>
          <a:prstGeom prst="ellipse">
            <a:avLst/>
          </a:prstGeom>
          <a:solidFill>
            <a:srgbClr val="011E1F">
              <a:alpha val="85000"/>
            </a:srgbClr>
          </a:solidFill>
          <a:ln/>
        </p:spPr>
      </p:sp>
      <p:pic>
        <p:nvPicPr>
          <p:cNvPr id="12" name="Image 1" descr="icons/filter_mint.png">    </p:cNvPr>
          <p:cNvPicPr>
            <a:picLocks noChangeAspect="1"/>
          </p:cNvPicPr>
          <p:nvPr/>
        </p:nvPicPr>
        <p:blipFill>
          <a:blip r:embed="rId2"/>
          <a:stretch>
            <a:fillRect/>
          </a:stretch>
        </p:blipFill>
        <p:spPr>
          <a:xfrm>
            <a:off x="2973172" y="2240280"/>
            <a:ext cx="292608" cy="292608"/>
          </a:xfrm>
          <a:prstGeom prst="rect">
            <a:avLst/>
          </a:prstGeom>
        </p:spPr>
      </p:pic>
      <p:sp>
        <p:nvSpPr>
          <p:cNvPr id="13" name="Text 9"/>
          <p:cNvSpPr/>
          <p:nvPr/>
        </p:nvSpPr>
        <p:spPr>
          <a:xfrm>
            <a:off x="2346808"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Data</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Pre-processing</a:t>
            </a:r>
            <a:endParaRPr lang="en-US" sz="1200" dirty="0"/>
          </a:p>
        </p:txBody>
      </p:sp>
      <p:sp>
        <p:nvSpPr>
          <p:cNvPr id="14" name="Text 10"/>
          <p:cNvSpPr/>
          <p:nvPr/>
        </p:nvSpPr>
        <p:spPr>
          <a:xfrm>
            <a:off x="3581248"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2</a:t>
            </a:r>
            <a:endParaRPr lang="en-US" sz="1400" dirty="0"/>
          </a:p>
        </p:txBody>
      </p:sp>
      <p:sp>
        <p:nvSpPr>
          <p:cNvPr id="15" name="Text 11"/>
          <p:cNvSpPr/>
          <p:nvPr/>
        </p:nvSpPr>
        <p:spPr>
          <a:xfrm>
            <a:off x="3965296" y="2473452"/>
            <a:ext cx="292608" cy="585216"/>
          </a:xfrm>
          <a:prstGeom prst="rect">
            <a:avLst/>
          </a:prstGeom>
          <a:noFill/>
          <a:ln/>
        </p:spPr>
        <p:txBody>
          <a:bodyPr wrap="square" rtlCol="0" anchor="ctr"/>
          <a:lstStyle/>
          <a:p>
            <a:pPr algn="ctr" indent="0" marL="0">
              <a:buNone/>
            </a:pPr>
            <a:r>
              <a:rPr lang="en-US" sz="2200" b="1" dirty="0">
                <a:solidFill>
                  <a:srgbClr val="02C39A"/>
                </a:solidFill>
                <a:latin typeface="Calibri" pitchFamily="34" charset="0"/>
                <a:ea typeface="Calibri" pitchFamily="34" charset="-122"/>
                <a:cs typeface="Calibri" pitchFamily="34" charset="-120"/>
              </a:rPr>
              <a:t>→</a:t>
            </a:r>
            <a:endParaRPr lang="en-US" sz="2200" dirty="0"/>
          </a:p>
        </p:txBody>
      </p:sp>
      <p:sp>
        <p:nvSpPr>
          <p:cNvPr id="16" name="Shape 12"/>
          <p:cNvSpPr/>
          <p:nvPr/>
        </p:nvSpPr>
        <p:spPr>
          <a:xfrm>
            <a:off x="4257904" y="1965960"/>
            <a:ext cx="1691640" cy="1600200"/>
          </a:xfrm>
          <a:prstGeom prst="roundRect">
            <a:avLst>
              <a:gd name="adj" fmla="val 6857"/>
            </a:avLst>
          </a:prstGeom>
          <a:solidFill>
            <a:srgbClr val="028090"/>
          </a:solidFill>
          <a:ln/>
          <a:effectLst>
            <a:outerShdw sx="100000" sy="100000" kx="0" ky="0" algn="bl" rotWithShape="0" blurRad="127000" dist="50800" dir="5400000">
              <a:srgbClr val="000000">
                <a:alpha val="30000"/>
              </a:srgbClr>
            </a:outerShdw>
          </a:effectLst>
        </p:spPr>
      </p:sp>
      <p:sp>
        <p:nvSpPr>
          <p:cNvPr id="17" name="Shape 13"/>
          <p:cNvSpPr/>
          <p:nvPr/>
        </p:nvSpPr>
        <p:spPr>
          <a:xfrm>
            <a:off x="4847692" y="2130552"/>
            <a:ext cx="512064" cy="512064"/>
          </a:xfrm>
          <a:prstGeom prst="ellipse">
            <a:avLst/>
          </a:prstGeom>
          <a:solidFill>
            <a:srgbClr val="011E1F">
              <a:alpha val="85000"/>
            </a:srgbClr>
          </a:solidFill>
          <a:ln/>
        </p:spPr>
      </p:sp>
      <p:pic>
        <p:nvPicPr>
          <p:cNvPr id="18" name="Image 2" descr="icons/listOl_mint.png">    </p:cNvPr>
          <p:cNvPicPr>
            <a:picLocks noChangeAspect="1"/>
          </p:cNvPicPr>
          <p:nvPr/>
        </p:nvPicPr>
        <p:blipFill>
          <a:blip r:embed="rId3"/>
          <a:stretch>
            <a:fillRect/>
          </a:stretch>
        </p:blipFill>
        <p:spPr>
          <a:xfrm>
            <a:off x="4957420" y="2240280"/>
            <a:ext cx="292608" cy="292608"/>
          </a:xfrm>
          <a:prstGeom prst="rect">
            <a:avLst/>
          </a:prstGeom>
        </p:spPr>
      </p:pic>
      <p:sp>
        <p:nvSpPr>
          <p:cNvPr id="19" name="Text 14"/>
          <p:cNvSpPr/>
          <p:nvPr/>
        </p:nvSpPr>
        <p:spPr>
          <a:xfrm>
            <a:off x="4331056"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Feature</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Selection</a:t>
            </a:r>
            <a:endParaRPr lang="en-US" sz="1200" dirty="0"/>
          </a:p>
        </p:txBody>
      </p:sp>
      <p:sp>
        <p:nvSpPr>
          <p:cNvPr id="20" name="Text 15"/>
          <p:cNvSpPr/>
          <p:nvPr/>
        </p:nvSpPr>
        <p:spPr>
          <a:xfrm>
            <a:off x="5565496"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3</a:t>
            </a:r>
            <a:endParaRPr lang="en-US" sz="1400" dirty="0"/>
          </a:p>
        </p:txBody>
      </p:sp>
      <p:sp>
        <p:nvSpPr>
          <p:cNvPr id="21" name="Text 16"/>
          <p:cNvSpPr/>
          <p:nvPr/>
        </p:nvSpPr>
        <p:spPr>
          <a:xfrm>
            <a:off x="5949544" y="2473452"/>
            <a:ext cx="292608" cy="585216"/>
          </a:xfrm>
          <a:prstGeom prst="rect">
            <a:avLst/>
          </a:prstGeom>
          <a:noFill/>
          <a:ln/>
        </p:spPr>
        <p:txBody>
          <a:bodyPr wrap="square" rtlCol="0" anchor="ctr"/>
          <a:lstStyle/>
          <a:p>
            <a:pPr algn="ctr" indent="0" marL="0">
              <a:buNone/>
            </a:pPr>
            <a:r>
              <a:rPr lang="en-US" sz="2200" b="1" dirty="0">
                <a:solidFill>
                  <a:srgbClr val="02C39A"/>
                </a:solidFill>
                <a:latin typeface="Calibri" pitchFamily="34" charset="0"/>
                <a:ea typeface="Calibri" pitchFamily="34" charset="-122"/>
                <a:cs typeface="Calibri" pitchFamily="34" charset="-120"/>
              </a:rPr>
              <a:t>→</a:t>
            </a:r>
            <a:endParaRPr lang="en-US" sz="2200" dirty="0"/>
          </a:p>
        </p:txBody>
      </p:sp>
      <p:sp>
        <p:nvSpPr>
          <p:cNvPr id="22" name="Shape 17"/>
          <p:cNvSpPr/>
          <p:nvPr/>
        </p:nvSpPr>
        <p:spPr>
          <a:xfrm>
            <a:off x="6242152" y="1965960"/>
            <a:ext cx="1691640" cy="1600200"/>
          </a:xfrm>
          <a:prstGeom prst="roundRect">
            <a:avLst>
              <a:gd name="adj" fmla="val 6857"/>
            </a:avLst>
          </a:prstGeom>
          <a:solidFill>
            <a:srgbClr val="00A896"/>
          </a:solidFill>
          <a:ln/>
          <a:effectLst>
            <a:outerShdw sx="100000" sy="100000" kx="0" ky="0" algn="bl" rotWithShape="0" blurRad="127000" dist="50800" dir="5400000">
              <a:srgbClr val="000000">
                <a:alpha val="30000"/>
              </a:srgbClr>
            </a:outerShdw>
          </a:effectLst>
        </p:spPr>
      </p:sp>
      <p:sp>
        <p:nvSpPr>
          <p:cNvPr id="23" name="Shape 18"/>
          <p:cNvSpPr/>
          <p:nvPr/>
        </p:nvSpPr>
        <p:spPr>
          <a:xfrm>
            <a:off x="6831940" y="2130552"/>
            <a:ext cx="512064" cy="512064"/>
          </a:xfrm>
          <a:prstGeom prst="ellipse">
            <a:avLst/>
          </a:prstGeom>
          <a:solidFill>
            <a:srgbClr val="011E1F">
              <a:alpha val="85000"/>
            </a:srgbClr>
          </a:solidFill>
          <a:ln/>
        </p:spPr>
      </p:sp>
      <p:pic>
        <p:nvPicPr>
          <p:cNvPr id="24" name="Image 3" descr="icons/random_mint.png">    </p:cNvPr>
          <p:cNvPicPr>
            <a:picLocks noChangeAspect="1"/>
          </p:cNvPicPr>
          <p:nvPr/>
        </p:nvPicPr>
        <p:blipFill>
          <a:blip r:embed="rId4"/>
          <a:stretch>
            <a:fillRect/>
          </a:stretch>
        </p:blipFill>
        <p:spPr>
          <a:xfrm>
            <a:off x="6941668" y="2240280"/>
            <a:ext cx="292608" cy="292608"/>
          </a:xfrm>
          <a:prstGeom prst="rect">
            <a:avLst/>
          </a:prstGeom>
        </p:spPr>
      </p:pic>
      <p:sp>
        <p:nvSpPr>
          <p:cNvPr id="25" name="Text 19"/>
          <p:cNvSpPr/>
          <p:nvPr/>
        </p:nvSpPr>
        <p:spPr>
          <a:xfrm>
            <a:off x="6315304"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Train / Test</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Split</a:t>
            </a:r>
            <a:endParaRPr lang="en-US" sz="1200" dirty="0"/>
          </a:p>
        </p:txBody>
      </p:sp>
      <p:sp>
        <p:nvSpPr>
          <p:cNvPr id="26" name="Text 20"/>
          <p:cNvSpPr/>
          <p:nvPr/>
        </p:nvSpPr>
        <p:spPr>
          <a:xfrm>
            <a:off x="7549744"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4</a:t>
            </a:r>
            <a:endParaRPr lang="en-US" sz="1400" dirty="0"/>
          </a:p>
        </p:txBody>
      </p:sp>
      <p:sp>
        <p:nvSpPr>
          <p:cNvPr id="27" name="Text 21"/>
          <p:cNvSpPr/>
          <p:nvPr/>
        </p:nvSpPr>
        <p:spPr>
          <a:xfrm>
            <a:off x="7933792" y="2473452"/>
            <a:ext cx="292608" cy="585216"/>
          </a:xfrm>
          <a:prstGeom prst="rect">
            <a:avLst/>
          </a:prstGeom>
          <a:noFill/>
          <a:ln/>
        </p:spPr>
        <p:txBody>
          <a:bodyPr wrap="square" rtlCol="0" anchor="ctr"/>
          <a:lstStyle/>
          <a:p>
            <a:pPr algn="ctr" indent="0" marL="0">
              <a:buNone/>
            </a:pPr>
            <a:r>
              <a:rPr lang="en-US" sz="2200" b="1" dirty="0">
                <a:solidFill>
                  <a:srgbClr val="02C39A"/>
                </a:solidFill>
                <a:latin typeface="Calibri" pitchFamily="34" charset="0"/>
                <a:ea typeface="Calibri" pitchFamily="34" charset="-122"/>
                <a:cs typeface="Calibri" pitchFamily="34" charset="-120"/>
              </a:rPr>
              <a:t>→</a:t>
            </a:r>
            <a:endParaRPr lang="en-US" sz="2200" dirty="0"/>
          </a:p>
        </p:txBody>
      </p:sp>
      <p:sp>
        <p:nvSpPr>
          <p:cNvPr id="28" name="Shape 22"/>
          <p:cNvSpPr/>
          <p:nvPr/>
        </p:nvSpPr>
        <p:spPr>
          <a:xfrm>
            <a:off x="8226400" y="1965960"/>
            <a:ext cx="1691640" cy="1600200"/>
          </a:xfrm>
          <a:prstGeom prst="roundRect">
            <a:avLst>
              <a:gd name="adj" fmla="val 6857"/>
            </a:avLst>
          </a:prstGeom>
          <a:solidFill>
            <a:srgbClr val="028090"/>
          </a:solidFill>
          <a:ln/>
          <a:effectLst>
            <a:outerShdw sx="100000" sy="100000" kx="0" ky="0" algn="bl" rotWithShape="0" blurRad="127000" dist="50800" dir="5400000">
              <a:srgbClr val="000000">
                <a:alpha val="30000"/>
              </a:srgbClr>
            </a:outerShdw>
          </a:effectLst>
        </p:spPr>
      </p:sp>
      <p:sp>
        <p:nvSpPr>
          <p:cNvPr id="29" name="Shape 23"/>
          <p:cNvSpPr/>
          <p:nvPr/>
        </p:nvSpPr>
        <p:spPr>
          <a:xfrm>
            <a:off x="8816188" y="2130552"/>
            <a:ext cx="512064" cy="512064"/>
          </a:xfrm>
          <a:prstGeom prst="ellipse">
            <a:avLst/>
          </a:prstGeom>
          <a:solidFill>
            <a:srgbClr val="011E1F">
              <a:alpha val="85000"/>
            </a:srgbClr>
          </a:solidFill>
          <a:ln/>
        </p:spPr>
      </p:sp>
      <p:pic>
        <p:nvPicPr>
          <p:cNvPr id="30" name="Image 4" descr="icons/brain_mint.png">    </p:cNvPr>
          <p:cNvPicPr>
            <a:picLocks noChangeAspect="1"/>
          </p:cNvPicPr>
          <p:nvPr/>
        </p:nvPicPr>
        <p:blipFill>
          <a:blip r:embed="rId5"/>
          <a:stretch>
            <a:fillRect/>
          </a:stretch>
        </p:blipFill>
        <p:spPr>
          <a:xfrm>
            <a:off x="8925916" y="2240280"/>
            <a:ext cx="292608" cy="292608"/>
          </a:xfrm>
          <a:prstGeom prst="rect">
            <a:avLst/>
          </a:prstGeom>
        </p:spPr>
      </p:pic>
      <p:sp>
        <p:nvSpPr>
          <p:cNvPr id="31" name="Text 24"/>
          <p:cNvSpPr/>
          <p:nvPr/>
        </p:nvSpPr>
        <p:spPr>
          <a:xfrm>
            <a:off x="8299552"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Model Training</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(LR, SVM, KNN)</a:t>
            </a:r>
            <a:endParaRPr lang="en-US" sz="1200" dirty="0"/>
          </a:p>
        </p:txBody>
      </p:sp>
      <p:sp>
        <p:nvSpPr>
          <p:cNvPr id="32" name="Text 25"/>
          <p:cNvSpPr/>
          <p:nvPr/>
        </p:nvSpPr>
        <p:spPr>
          <a:xfrm>
            <a:off x="9533992"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5</a:t>
            </a:r>
            <a:endParaRPr lang="en-US" sz="1400" dirty="0"/>
          </a:p>
        </p:txBody>
      </p:sp>
      <p:sp>
        <p:nvSpPr>
          <p:cNvPr id="33" name="Text 26"/>
          <p:cNvSpPr/>
          <p:nvPr/>
        </p:nvSpPr>
        <p:spPr>
          <a:xfrm>
            <a:off x="9918040" y="2473452"/>
            <a:ext cx="292608" cy="585216"/>
          </a:xfrm>
          <a:prstGeom prst="rect">
            <a:avLst/>
          </a:prstGeom>
          <a:noFill/>
          <a:ln/>
        </p:spPr>
        <p:txBody>
          <a:bodyPr wrap="square" rtlCol="0" anchor="ctr"/>
          <a:lstStyle/>
          <a:p>
            <a:pPr algn="ctr" indent="0" marL="0">
              <a:buNone/>
            </a:pPr>
            <a:r>
              <a:rPr lang="en-US" sz="2200" b="1" dirty="0">
                <a:solidFill>
                  <a:srgbClr val="02C39A"/>
                </a:solidFill>
                <a:latin typeface="Calibri" pitchFamily="34" charset="0"/>
                <a:ea typeface="Calibri" pitchFamily="34" charset="-122"/>
                <a:cs typeface="Calibri" pitchFamily="34" charset="-120"/>
              </a:rPr>
              <a:t>→</a:t>
            </a:r>
            <a:endParaRPr lang="en-US" sz="2200" dirty="0"/>
          </a:p>
        </p:txBody>
      </p:sp>
      <p:sp>
        <p:nvSpPr>
          <p:cNvPr id="34" name="Shape 27"/>
          <p:cNvSpPr/>
          <p:nvPr/>
        </p:nvSpPr>
        <p:spPr>
          <a:xfrm>
            <a:off x="10210648" y="1965960"/>
            <a:ext cx="1691640" cy="1600200"/>
          </a:xfrm>
          <a:prstGeom prst="roundRect">
            <a:avLst>
              <a:gd name="adj" fmla="val 6857"/>
            </a:avLst>
          </a:prstGeom>
          <a:solidFill>
            <a:srgbClr val="00A896"/>
          </a:solidFill>
          <a:ln/>
          <a:effectLst>
            <a:outerShdw sx="100000" sy="100000" kx="0" ky="0" algn="bl" rotWithShape="0" blurRad="127000" dist="50800" dir="5400000">
              <a:srgbClr val="000000">
                <a:alpha val="30000"/>
              </a:srgbClr>
            </a:outerShdw>
          </a:effectLst>
        </p:spPr>
      </p:sp>
      <p:sp>
        <p:nvSpPr>
          <p:cNvPr id="35" name="Shape 28"/>
          <p:cNvSpPr/>
          <p:nvPr/>
        </p:nvSpPr>
        <p:spPr>
          <a:xfrm>
            <a:off x="10800436" y="2130552"/>
            <a:ext cx="512064" cy="512064"/>
          </a:xfrm>
          <a:prstGeom prst="ellipse">
            <a:avLst/>
          </a:prstGeom>
          <a:solidFill>
            <a:srgbClr val="011E1F">
              <a:alpha val="85000"/>
            </a:srgbClr>
          </a:solidFill>
          <a:ln/>
        </p:spPr>
      </p:sp>
      <p:pic>
        <p:nvPicPr>
          <p:cNvPr id="36" name="Image 5" descr="icons/checkDouble_mint.png">    </p:cNvPr>
          <p:cNvPicPr>
            <a:picLocks noChangeAspect="1"/>
          </p:cNvPicPr>
          <p:nvPr/>
        </p:nvPicPr>
        <p:blipFill>
          <a:blip r:embed="rId6"/>
          <a:stretch>
            <a:fillRect/>
          </a:stretch>
        </p:blipFill>
        <p:spPr>
          <a:xfrm>
            <a:off x="10910164" y="2240280"/>
            <a:ext cx="292608" cy="292608"/>
          </a:xfrm>
          <a:prstGeom prst="rect">
            <a:avLst/>
          </a:prstGeom>
        </p:spPr>
      </p:pic>
      <p:sp>
        <p:nvSpPr>
          <p:cNvPr id="37" name="Text 29"/>
          <p:cNvSpPr/>
          <p:nvPr/>
        </p:nvSpPr>
        <p:spPr>
          <a:xfrm>
            <a:off x="10283800" y="2743200"/>
            <a:ext cx="1545336" cy="731520"/>
          </a:xfrm>
          <a:prstGeom prst="rect">
            <a:avLst/>
          </a:prstGeom>
          <a:noFill/>
          <a:ln/>
        </p:spPr>
        <p:txBody>
          <a:bodyPr wrap="square" rtlCol="0" anchor="t"/>
          <a:lstStyle/>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Evaluation &amp;</a:t>
            </a:r>
            <a:endParaRPr lang="en-US" sz="1200" dirty="0"/>
          </a:p>
          <a:p>
            <a:pPr algn="ctr" indent="0" marL="0">
              <a:lnSpc>
                <a:spcPct val="105000"/>
              </a:lnSpc>
              <a:buNone/>
            </a:pPr>
            <a:r>
              <a:rPr lang="en-US" sz="1200" b="1" dirty="0">
                <a:solidFill>
                  <a:srgbClr val="FFFFFF"/>
                </a:solidFill>
                <a:latin typeface="Calibri" pitchFamily="34" charset="0"/>
                <a:ea typeface="Calibri" pitchFamily="34" charset="-122"/>
                <a:cs typeface="Calibri" pitchFamily="34" charset="-120"/>
              </a:rPr>
              <a:t>Prediction</a:t>
            </a:r>
            <a:endParaRPr lang="en-US" sz="1200" dirty="0"/>
          </a:p>
        </p:txBody>
      </p:sp>
      <p:sp>
        <p:nvSpPr>
          <p:cNvPr id="38" name="Text 30"/>
          <p:cNvSpPr/>
          <p:nvPr/>
        </p:nvSpPr>
        <p:spPr>
          <a:xfrm>
            <a:off x="11518240" y="1819656"/>
            <a:ext cx="365760" cy="365760"/>
          </a:xfrm>
          <a:prstGeom prst="ellipse">
            <a:avLst>
              <a:gd name="adj" fmla="val 50000"/>
            </a:avLst>
          </a:prstGeom>
          <a:solidFill>
            <a:srgbClr val="02C39A"/>
          </a:solidFill>
          <a:ln/>
        </p:spPr>
        <p:txBody>
          <a:bodyPr wrap="square" rtlCol="0" anchor="ctr"/>
          <a:lstStyle/>
          <a:p>
            <a:pPr algn="ctr" indent="0" marL="0">
              <a:buNone/>
            </a:pPr>
            <a:r>
              <a:rPr lang="en-US" sz="1400" b="1" dirty="0">
                <a:solidFill>
                  <a:srgbClr val="023436"/>
                </a:solidFill>
                <a:latin typeface="Cambria" pitchFamily="34" charset="0"/>
                <a:ea typeface="Cambria" pitchFamily="34" charset="-122"/>
                <a:cs typeface="Cambria" pitchFamily="34" charset="-120"/>
              </a:rPr>
              <a:t>6</a:t>
            </a:r>
            <a:endParaRPr lang="en-US" sz="1400" dirty="0"/>
          </a:p>
        </p:txBody>
      </p:sp>
      <p:sp>
        <p:nvSpPr>
          <p:cNvPr id="39" name="Shape 31"/>
          <p:cNvSpPr/>
          <p:nvPr/>
        </p:nvSpPr>
        <p:spPr>
          <a:xfrm>
            <a:off x="289408" y="4114800"/>
            <a:ext cx="11612880" cy="1417320"/>
          </a:xfrm>
          <a:prstGeom prst="rect">
            <a:avLst>
              <a:gd name="adj" fmla="val 6452"/>
            </a:avLst>
          </a:prstGeom>
          <a:solidFill>
            <a:srgbClr val="011E1F">
              <a:alpha val="85000"/>
            </a:srgbClr>
          </a:solidFill>
          <a:ln/>
        </p:spPr>
      </p:sp>
      <p:pic>
        <p:nvPicPr>
          <p:cNvPr id="40" name="Image 6" descr="icons/sitemap_mint.png">    </p:cNvPr>
          <p:cNvPicPr>
            <a:picLocks noChangeAspect="1"/>
          </p:cNvPicPr>
          <p:nvPr/>
        </p:nvPicPr>
        <p:blipFill>
          <a:blip r:embed="rId7"/>
          <a:stretch>
            <a:fillRect/>
          </a:stretch>
        </p:blipFill>
        <p:spPr>
          <a:xfrm>
            <a:off x="563728" y="4434840"/>
            <a:ext cx="457200" cy="457200"/>
          </a:xfrm>
          <a:prstGeom prst="rect">
            <a:avLst/>
          </a:prstGeom>
        </p:spPr>
      </p:pic>
      <p:sp>
        <p:nvSpPr>
          <p:cNvPr id="41" name="Text 32"/>
          <p:cNvSpPr/>
          <p:nvPr/>
        </p:nvSpPr>
        <p:spPr>
          <a:xfrm>
            <a:off x="1249528" y="4206240"/>
            <a:ext cx="10378440" cy="1234440"/>
          </a:xfrm>
          <a:prstGeom prst="rect">
            <a:avLst/>
          </a:prstGeom>
          <a:noFill/>
          <a:ln/>
        </p:spPr>
        <p:txBody>
          <a:bodyPr wrap="square" rtlCol="0" anchor="ctr"/>
          <a:lstStyle/>
          <a:p>
            <a:pPr indent="0" marL="0">
              <a:lnSpc>
                <a:spcPct val="125000"/>
              </a:lnSpc>
              <a:buNone/>
            </a:pPr>
            <a:r>
              <a:rPr lang="en-US" sz="1350" i="1" dirty="0">
                <a:solidFill>
                  <a:srgbClr val="D6F0EC"/>
                </a:solidFill>
                <a:latin typeface="Calibri" pitchFamily="34" charset="0"/>
                <a:ea typeface="Calibri" pitchFamily="34" charset="-122"/>
                <a:cs typeface="Calibri" pitchFamily="34" charset="-120"/>
              </a:rPr>
              <a:t>Raw patient data flows through pre-processing and feature selection, is split for training/testing, and used to train and evaluate three ML models before producing a risk prediction.</a:t>
            </a:r>
            <a:endParaRPr lang="en-US" sz="1350" dirty="0"/>
          </a:p>
        </p:txBody>
      </p:sp>
      <p:sp>
        <p:nvSpPr>
          <p:cNvPr id="42" name="Text 33"/>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BFE3DF"/>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43" name="Text 3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BFE3DF"/>
                </a:solidFill>
                <a:latin typeface="Calibri" pitchFamily="34" charset="0"/>
                <a:ea typeface="Calibri" pitchFamily="34" charset="-122"/>
                <a:cs typeface="Calibri" pitchFamily="34" charset="-120"/>
              </a:rPr>
              <a:t>6</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BUILDING BLOCKS</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Project Modules</a:t>
            </a:r>
            <a:endParaRPr lang="en-US" sz="3400" dirty="0"/>
          </a:p>
        </p:txBody>
      </p:sp>
      <p:sp>
        <p:nvSpPr>
          <p:cNvPr id="4" name="Shape 2"/>
          <p:cNvSpPr/>
          <p:nvPr/>
        </p:nvSpPr>
        <p:spPr>
          <a:xfrm>
            <a:off x="548640" y="1508760"/>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5" name="Shape 3"/>
          <p:cNvSpPr/>
          <p:nvPr/>
        </p:nvSpPr>
        <p:spPr>
          <a:xfrm>
            <a:off x="804672" y="1764792"/>
            <a:ext cx="640080" cy="640080"/>
          </a:xfrm>
          <a:prstGeom prst="ellipse">
            <a:avLst/>
          </a:prstGeom>
          <a:solidFill>
            <a:srgbClr val="028090"/>
          </a:solidFill>
          <a:ln/>
        </p:spPr>
      </p:sp>
      <p:pic>
        <p:nvPicPr>
          <p:cNvPr id="6" name="Image 0" descr="icons/database_white.png">    </p:cNvPr>
          <p:cNvPicPr>
            <a:picLocks noChangeAspect="1"/>
          </p:cNvPicPr>
          <p:nvPr/>
        </p:nvPicPr>
        <p:blipFill>
          <a:blip r:embed="rId1"/>
          <a:stretch>
            <a:fillRect/>
          </a:stretch>
        </p:blipFill>
        <p:spPr>
          <a:xfrm>
            <a:off x="950976" y="1911096"/>
            <a:ext cx="347472" cy="347472"/>
          </a:xfrm>
          <a:prstGeom prst="rect">
            <a:avLst/>
          </a:prstGeom>
        </p:spPr>
      </p:pic>
      <p:sp>
        <p:nvSpPr>
          <p:cNvPr id="7" name="Text 4"/>
          <p:cNvSpPr/>
          <p:nvPr/>
        </p:nvSpPr>
        <p:spPr>
          <a:xfrm>
            <a:off x="3310128" y="1728216"/>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01</a:t>
            </a:r>
            <a:endParaRPr lang="en-US" sz="1700" dirty="0"/>
          </a:p>
        </p:txBody>
      </p:sp>
      <p:sp>
        <p:nvSpPr>
          <p:cNvPr id="8" name="Text 5"/>
          <p:cNvSpPr/>
          <p:nvPr/>
        </p:nvSpPr>
        <p:spPr>
          <a:xfrm>
            <a:off x="804672" y="2532888"/>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Data Collection</a:t>
            </a:r>
            <a:endParaRPr lang="en-US" sz="1500" dirty="0"/>
          </a:p>
        </p:txBody>
      </p:sp>
      <p:sp>
        <p:nvSpPr>
          <p:cNvPr id="9" name="Text 6"/>
          <p:cNvSpPr/>
          <p:nvPr/>
        </p:nvSpPr>
        <p:spPr>
          <a:xfrm>
            <a:off x="804672" y="2880360"/>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Gathers the UCI/Kaggle Heart Disease dataset containing patient clinical records.</a:t>
            </a:r>
            <a:endParaRPr lang="en-US" sz="1100" dirty="0"/>
          </a:p>
        </p:txBody>
      </p:sp>
      <p:sp>
        <p:nvSpPr>
          <p:cNvPr id="10" name="Shape 7"/>
          <p:cNvSpPr/>
          <p:nvPr/>
        </p:nvSpPr>
        <p:spPr>
          <a:xfrm>
            <a:off x="4343400" y="1508760"/>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11" name="Shape 8"/>
          <p:cNvSpPr/>
          <p:nvPr/>
        </p:nvSpPr>
        <p:spPr>
          <a:xfrm>
            <a:off x="4599432" y="1764792"/>
            <a:ext cx="640080" cy="640080"/>
          </a:xfrm>
          <a:prstGeom prst="ellipse">
            <a:avLst/>
          </a:prstGeom>
          <a:solidFill>
            <a:srgbClr val="028090"/>
          </a:solidFill>
          <a:ln/>
        </p:spPr>
      </p:sp>
      <p:pic>
        <p:nvPicPr>
          <p:cNvPr id="12" name="Image 1" descr="icons/broom_white.png">    </p:cNvPr>
          <p:cNvPicPr>
            <a:picLocks noChangeAspect="1"/>
          </p:cNvPicPr>
          <p:nvPr/>
        </p:nvPicPr>
        <p:blipFill>
          <a:blip r:embed="rId2"/>
          <a:stretch>
            <a:fillRect/>
          </a:stretch>
        </p:blipFill>
        <p:spPr>
          <a:xfrm>
            <a:off x="4745736" y="1911096"/>
            <a:ext cx="347472" cy="347472"/>
          </a:xfrm>
          <a:prstGeom prst="rect">
            <a:avLst/>
          </a:prstGeom>
        </p:spPr>
      </p:pic>
      <p:sp>
        <p:nvSpPr>
          <p:cNvPr id="13" name="Text 9"/>
          <p:cNvSpPr/>
          <p:nvPr/>
        </p:nvSpPr>
        <p:spPr>
          <a:xfrm>
            <a:off x="7104888" y="1728216"/>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02</a:t>
            </a:r>
            <a:endParaRPr lang="en-US" sz="1700" dirty="0"/>
          </a:p>
        </p:txBody>
      </p:sp>
      <p:sp>
        <p:nvSpPr>
          <p:cNvPr id="14" name="Text 10"/>
          <p:cNvSpPr/>
          <p:nvPr/>
        </p:nvSpPr>
        <p:spPr>
          <a:xfrm>
            <a:off x="4599432" y="2532888"/>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Pre-processing</a:t>
            </a:r>
            <a:endParaRPr lang="en-US" sz="1500" dirty="0"/>
          </a:p>
        </p:txBody>
      </p:sp>
      <p:sp>
        <p:nvSpPr>
          <p:cNvPr id="15" name="Text 11"/>
          <p:cNvSpPr/>
          <p:nvPr/>
        </p:nvSpPr>
        <p:spPr>
          <a:xfrm>
            <a:off x="4599432" y="2880360"/>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Handles missing values, encodes categorical fields, and normalizes numerical features.</a:t>
            </a:r>
            <a:endParaRPr lang="en-US" sz="1100" dirty="0"/>
          </a:p>
        </p:txBody>
      </p:sp>
      <p:sp>
        <p:nvSpPr>
          <p:cNvPr id="16" name="Shape 12"/>
          <p:cNvSpPr/>
          <p:nvPr/>
        </p:nvSpPr>
        <p:spPr>
          <a:xfrm>
            <a:off x="8138160" y="1508760"/>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17" name="Shape 13"/>
          <p:cNvSpPr/>
          <p:nvPr/>
        </p:nvSpPr>
        <p:spPr>
          <a:xfrm>
            <a:off x="8394192" y="1764792"/>
            <a:ext cx="640080" cy="640080"/>
          </a:xfrm>
          <a:prstGeom prst="ellipse">
            <a:avLst/>
          </a:prstGeom>
          <a:solidFill>
            <a:srgbClr val="028090"/>
          </a:solidFill>
          <a:ln/>
        </p:spPr>
      </p:sp>
      <p:pic>
        <p:nvPicPr>
          <p:cNvPr id="18" name="Image 2" descr="icons/filter_white.png">    </p:cNvPr>
          <p:cNvPicPr>
            <a:picLocks noChangeAspect="1"/>
          </p:cNvPicPr>
          <p:nvPr/>
        </p:nvPicPr>
        <p:blipFill>
          <a:blip r:embed="rId3"/>
          <a:stretch>
            <a:fillRect/>
          </a:stretch>
        </p:blipFill>
        <p:spPr>
          <a:xfrm>
            <a:off x="8540496" y="1911096"/>
            <a:ext cx="347472" cy="347472"/>
          </a:xfrm>
          <a:prstGeom prst="rect">
            <a:avLst/>
          </a:prstGeom>
        </p:spPr>
      </p:pic>
      <p:sp>
        <p:nvSpPr>
          <p:cNvPr id="19" name="Text 14"/>
          <p:cNvSpPr/>
          <p:nvPr/>
        </p:nvSpPr>
        <p:spPr>
          <a:xfrm>
            <a:off x="10899648" y="1728216"/>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03</a:t>
            </a:r>
            <a:endParaRPr lang="en-US" sz="1700" dirty="0"/>
          </a:p>
        </p:txBody>
      </p:sp>
      <p:sp>
        <p:nvSpPr>
          <p:cNvPr id="20" name="Text 15"/>
          <p:cNvSpPr/>
          <p:nvPr/>
        </p:nvSpPr>
        <p:spPr>
          <a:xfrm>
            <a:off x="8394192" y="2532888"/>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Feature Selection</a:t>
            </a:r>
            <a:endParaRPr lang="en-US" sz="1500" dirty="0"/>
          </a:p>
        </p:txBody>
      </p:sp>
      <p:sp>
        <p:nvSpPr>
          <p:cNvPr id="21" name="Text 16"/>
          <p:cNvSpPr/>
          <p:nvPr/>
        </p:nvSpPr>
        <p:spPr>
          <a:xfrm>
            <a:off x="8394192" y="2880360"/>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Identifies the most relevant clinical attributes for prediction.</a:t>
            </a:r>
            <a:endParaRPr lang="en-US" sz="1100" dirty="0"/>
          </a:p>
        </p:txBody>
      </p:sp>
      <p:sp>
        <p:nvSpPr>
          <p:cNvPr id="22" name="Shape 17"/>
          <p:cNvSpPr/>
          <p:nvPr/>
        </p:nvSpPr>
        <p:spPr>
          <a:xfrm>
            <a:off x="548640" y="3913632"/>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23" name="Shape 18"/>
          <p:cNvSpPr/>
          <p:nvPr/>
        </p:nvSpPr>
        <p:spPr>
          <a:xfrm>
            <a:off x="804672" y="4169664"/>
            <a:ext cx="640080" cy="640080"/>
          </a:xfrm>
          <a:prstGeom prst="ellipse">
            <a:avLst/>
          </a:prstGeom>
          <a:solidFill>
            <a:srgbClr val="028090"/>
          </a:solidFill>
          <a:ln/>
        </p:spPr>
      </p:sp>
      <p:pic>
        <p:nvPicPr>
          <p:cNvPr id="24" name="Image 3" descr="icons/brain_white.png">    </p:cNvPr>
          <p:cNvPicPr>
            <a:picLocks noChangeAspect="1"/>
          </p:cNvPicPr>
          <p:nvPr/>
        </p:nvPicPr>
        <p:blipFill>
          <a:blip r:embed="rId4"/>
          <a:stretch>
            <a:fillRect/>
          </a:stretch>
        </p:blipFill>
        <p:spPr>
          <a:xfrm>
            <a:off x="950976" y="4315968"/>
            <a:ext cx="347472" cy="347472"/>
          </a:xfrm>
          <a:prstGeom prst="rect">
            <a:avLst/>
          </a:prstGeom>
        </p:spPr>
      </p:pic>
      <p:sp>
        <p:nvSpPr>
          <p:cNvPr id="25" name="Text 19"/>
          <p:cNvSpPr/>
          <p:nvPr/>
        </p:nvSpPr>
        <p:spPr>
          <a:xfrm>
            <a:off x="3310128" y="4133088"/>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04</a:t>
            </a:r>
            <a:endParaRPr lang="en-US" sz="1700" dirty="0"/>
          </a:p>
        </p:txBody>
      </p:sp>
      <p:sp>
        <p:nvSpPr>
          <p:cNvPr id="26" name="Text 20"/>
          <p:cNvSpPr/>
          <p:nvPr/>
        </p:nvSpPr>
        <p:spPr>
          <a:xfrm>
            <a:off x="804672" y="4937760"/>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Model Training</a:t>
            </a:r>
            <a:endParaRPr lang="en-US" sz="1500" dirty="0"/>
          </a:p>
        </p:txBody>
      </p:sp>
      <p:sp>
        <p:nvSpPr>
          <p:cNvPr id="27" name="Text 21"/>
          <p:cNvSpPr/>
          <p:nvPr/>
        </p:nvSpPr>
        <p:spPr>
          <a:xfrm>
            <a:off x="804672" y="5285232"/>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Trains Logistic Regression, SVM, and KNN classifiers on the training set.</a:t>
            </a:r>
            <a:endParaRPr lang="en-US" sz="1100" dirty="0"/>
          </a:p>
        </p:txBody>
      </p:sp>
      <p:sp>
        <p:nvSpPr>
          <p:cNvPr id="28" name="Shape 22"/>
          <p:cNvSpPr/>
          <p:nvPr/>
        </p:nvSpPr>
        <p:spPr>
          <a:xfrm>
            <a:off x="4343400" y="3913632"/>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29" name="Shape 23"/>
          <p:cNvSpPr/>
          <p:nvPr/>
        </p:nvSpPr>
        <p:spPr>
          <a:xfrm>
            <a:off x="4599432" y="4169664"/>
            <a:ext cx="640080" cy="640080"/>
          </a:xfrm>
          <a:prstGeom prst="ellipse">
            <a:avLst/>
          </a:prstGeom>
          <a:solidFill>
            <a:srgbClr val="028090"/>
          </a:solidFill>
          <a:ln/>
        </p:spPr>
      </p:sp>
      <p:pic>
        <p:nvPicPr>
          <p:cNvPr id="30" name="Image 4" descr="icons/chartBar_white.png">    </p:cNvPr>
          <p:cNvPicPr>
            <a:picLocks noChangeAspect="1"/>
          </p:cNvPicPr>
          <p:nvPr/>
        </p:nvPicPr>
        <p:blipFill>
          <a:blip r:embed="rId5"/>
          <a:stretch>
            <a:fillRect/>
          </a:stretch>
        </p:blipFill>
        <p:spPr>
          <a:xfrm>
            <a:off x="4745736" y="4315968"/>
            <a:ext cx="347472" cy="347472"/>
          </a:xfrm>
          <a:prstGeom prst="rect">
            <a:avLst/>
          </a:prstGeom>
        </p:spPr>
      </p:pic>
      <p:sp>
        <p:nvSpPr>
          <p:cNvPr id="31" name="Text 24"/>
          <p:cNvSpPr/>
          <p:nvPr/>
        </p:nvSpPr>
        <p:spPr>
          <a:xfrm>
            <a:off x="7104888" y="4133088"/>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05</a:t>
            </a:r>
            <a:endParaRPr lang="en-US" sz="1700" dirty="0"/>
          </a:p>
        </p:txBody>
      </p:sp>
      <p:sp>
        <p:nvSpPr>
          <p:cNvPr id="32" name="Text 25"/>
          <p:cNvSpPr/>
          <p:nvPr/>
        </p:nvSpPr>
        <p:spPr>
          <a:xfrm>
            <a:off x="4599432" y="4937760"/>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Evaluation</a:t>
            </a:r>
            <a:endParaRPr lang="en-US" sz="1500" dirty="0"/>
          </a:p>
        </p:txBody>
      </p:sp>
      <p:sp>
        <p:nvSpPr>
          <p:cNvPr id="33" name="Text 26"/>
          <p:cNvSpPr/>
          <p:nvPr/>
        </p:nvSpPr>
        <p:spPr>
          <a:xfrm>
            <a:off x="4599432" y="5285232"/>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Compares models using accuracy, precision, recall, F1-score, and confusion matrix.</a:t>
            </a:r>
            <a:endParaRPr lang="en-US" sz="1100" dirty="0"/>
          </a:p>
        </p:txBody>
      </p:sp>
      <p:sp>
        <p:nvSpPr>
          <p:cNvPr id="34" name="Shape 27"/>
          <p:cNvSpPr/>
          <p:nvPr/>
        </p:nvSpPr>
        <p:spPr>
          <a:xfrm>
            <a:off x="8138160" y="3913632"/>
            <a:ext cx="3538728" cy="2148840"/>
          </a:xfrm>
          <a:prstGeom prst="rect">
            <a:avLst>
              <a:gd name="adj" fmla="val 3830"/>
            </a:avLst>
          </a:prstGeom>
          <a:solidFill>
            <a:srgbClr val="FFFFFF"/>
          </a:solidFill>
          <a:ln/>
          <a:effectLst>
            <a:outerShdw sx="100000" sy="100000" kx="0" ky="0" algn="bl" rotWithShape="0" blurRad="88900" dist="38100" dir="5400000">
              <a:srgbClr val="1B4B4B">
                <a:alpha val="15000"/>
              </a:srgbClr>
            </a:outerShdw>
          </a:effectLst>
        </p:spPr>
      </p:sp>
      <p:sp>
        <p:nvSpPr>
          <p:cNvPr id="35" name="Shape 28"/>
          <p:cNvSpPr/>
          <p:nvPr/>
        </p:nvSpPr>
        <p:spPr>
          <a:xfrm>
            <a:off x="8394192" y="4169664"/>
            <a:ext cx="640080" cy="640080"/>
          </a:xfrm>
          <a:prstGeom prst="ellipse">
            <a:avLst/>
          </a:prstGeom>
          <a:solidFill>
            <a:srgbClr val="028090"/>
          </a:solidFill>
          <a:ln/>
        </p:spPr>
      </p:sp>
      <p:pic>
        <p:nvPicPr>
          <p:cNvPr id="36" name="Image 5" descr="icons/diagnoses_white.png">    </p:cNvPr>
          <p:cNvPicPr>
            <a:picLocks noChangeAspect="1"/>
          </p:cNvPicPr>
          <p:nvPr/>
        </p:nvPicPr>
        <p:blipFill>
          <a:blip r:embed="rId6"/>
          <a:stretch>
            <a:fillRect/>
          </a:stretch>
        </p:blipFill>
        <p:spPr>
          <a:xfrm>
            <a:off x="8540496" y="4315968"/>
            <a:ext cx="347472" cy="347472"/>
          </a:xfrm>
          <a:prstGeom prst="rect">
            <a:avLst/>
          </a:prstGeom>
        </p:spPr>
      </p:pic>
      <p:sp>
        <p:nvSpPr>
          <p:cNvPr id="37" name="Text 29"/>
          <p:cNvSpPr/>
          <p:nvPr/>
        </p:nvSpPr>
        <p:spPr>
          <a:xfrm>
            <a:off x="10899648" y="4133088"/>
            <a:ext cx="548640" cy="365760"/>
          </a:xfrm>
          <a:prstGeom prst="rect">
            <a:avLst/>
          </a:prstGeom>
          <a:noFill/>
          <a:ln/>
        </p:spPr>
        <p:txBody>
          <a:bodyPr wrap="square" rtlCol="0" anchor="ctr"/>
          <a:lstStyle/>
          <a:p>
            <a:pPr algn="r" indent="0" marL="0">
              <a:buNone/>
            </a:pPr>
            <a:r>
              <a:rPr lang="en-US" sz="1700" b="1" dirty="0">
                <a:solidFill>
                  <a:srgbClr val="CFE9E4"/>
                </a:solidFill>
                <a:latin typeface="Cambria" pitchFamily="34" charset="0"/>
                <a:ea typeface="Cambria" pitchFamily="34" charset="-122"/>
                <a:cs typeface="Cambria" pitchFamily="34" charset="-120"/>
              </a:rPr>
              <a:t>06</a:t>
            </a:r>
            <a:endParaRPr lang="en-US" sz="1700" dirty="0"/>
          </a:p>
        </p:txBody>
      </p:sp>
      <p:sp>
        <p:nvSpPr>
          <p:cNvPr id="38" name="Text 30"/>
          <p:cNvSpPr/>
          <p:nvPr/>
        </p:nvSpPr>
        <p:spPr>
          <a:xfrm>
            <a:off x="8394192" y="4937760"/>
            <a:ext cx="3026664" cy="365760"/>
          </a:xfrm>
          <a:prstGeom prst="rect">
            <a:avLst/>
          </a:prstGeom>
          <a:noFill/>
          <a:ln/>
        </p:spPr>
        <p:txBody>
          <a:bodyPr wrap="square" rtlCol="0" anchor="ctr"/>
          <a:lstStyle/>
          <a:p>
            <a:pPr indent="0" marL="0">
              <a:buNone/>
            </a:pPr>
            <a:r>
              <a:rPr lang="en-US" sz="1500" b="1" dirty="0">
                <a:solidFill>
                  <a:srgbClr val="0B2B2C"/>
                </a:solidFill>
                <a:latin typeface="Calibri" pitchFamily="34" charset="0"/>
                <a:ea typeface="Calibri" pitchFamily="34" charset="-122"/>
                <a:cs typeface="Calibri" pitchFamily="34" charset="-120"/>
              </a:rPr>
              <a:t>Prediction</a:t>
            </a:r>
            <a:endParaRPr lang="en-US" sz="1500" dirty="0"/>
          </a:p>
        </p:txBody>
      </p:sp>
      <p:sp>
        <p:nvSpPr>
          <p:cNvPr id="39" name="Text 31"/>
          <p:cNvSpPr/>
          <p:nvPr/>
        </p:nvSpPr>
        <p:spPr>
          <a:xfrm>
            <a:off x="8394192" y="5285232"/>
            <a:ext cx="3026664" cy="713232"/>
          </a:xfrm>
          <a:prstGeom prst="rect">
            <a:avLst/>
          </a:prstGeom>
          <a:noFill/>
          <a:ln/>
        </p:spPr>
        <p:txBody>
          <a:bodyPr wrap="square" rtlCol="0" anchor="t"/>
          <a:lstStyle/>
          <a:p>
            <a:pPr indent="0" marL="0">
              <a:lnSpc>
                <a:spcPct val="118000"/>
              </a:lnSpc>
              <a:buNone/>
            </a:pPr>
            <a:r>
              <a:rPr lang="en-US" sz="1100" dirty="0">
                <a:solidFill>
                  <a:srgbClr val="5C7A7B"/>
                </a:solidFill>
                <a:latin typeface="Calibri" pitchFamily="34" charset="0"/>
                <a:ea typeface="Calibri" pitchFamily="34" charset="-122"/>
                <a:cs typeface="Calibri" pitchFamily="34" charset="-120"/>
              </a:rPr>
              <a:t>Outputs the risk classification for a new patient record.</a:t>
            </a:r>
            <a:endParaRPr lang="en-US" sz="1100" dirty="0"/>
          </a:p>
        </p:txBody>
      </p:sp>
      <p:sp>
        <p:nvSpPr>
          <p:cNvPr id="40" name="Text 32"/>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41" name="Text 33"/>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7</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5FAF9"/>
        </a:solidFill>
      </p:bgPr>
    </p:bg>
    <p:spTree>
      <p:nvGrpSpPr>
        <p:cNvPr id="1" name=""/>
        <p:cNvGrpSpPr/>
        <p:nvPr/>
      </p:nvGrpSpPr>
      <p:grpSpPr>
        <a:xfrm>
          <a:off x="0" y="0"/>
          <a:ext cx="0" cy="0"/>
          <a:chOff x="0" y="0"/>
          <a:chExt cx="0" cy="0"/>
        </a:xfrm>
      </p:grpSpPr>
      <p:sp>
        <p:nvSpPr>
          <p:cNvPr id="2" name="Text 0"/>
          <p:cNvSpPr/>
          <p:nvPr/>
        </p:nvSpPr>
        <p:spPr>
          <a:xfrm>
            <a:off x="548640" y="320040"/>
            <a:ext cx="7315200" cy="274320"/>
          </a:xfrm>
          <a:prstGeom prst="rect">
            <a:avLst/>
          </a:prstGeom>
          <a:noFill/>
          <a:ln/>
        </p:spPr>
        <p:txBody>
          <a:bodyPr wrap="square" rtlCol="0" anchor="ctr"/>
          <a:lstStyle/>
          <a:p>
            <a:pPr indent="0" marL="0">
              <a:buNone/>
            </a:pPr>
            <a:r>
              <a:rPr lang="en-US" sz="1200" b="1" spc="200" kern="0" dirty="0">
                <a:solidFill>
                  <a:srgbClr val="00A896"/>
                </a:solidFill>
                <a:latin typeface="Calibri" pitchFamily="34" charset="0"/>
                <a:ea typeface="Calibri" pitchFamily="34" charset="-122"/>
                <a:cs typeface="Calibri" pitchFamily="34" charset="-120"/>
              </a:rPr>
              <a:t>WHAT WE AIM TO ACHIEVE</a:t>
            </a:r>
            <a:endParaRPr lang="en-US" sz="1200" dirty="0"/>
          </a:p>
        </p:txBody>
      </p:sp>
      <p:sp>
        <p:nvSpPr>
          <p:cNvPr id="3" name="Text 1"/>
          <p:cNvSpPr/>
          <p:nvPr/>
        </p:nvSpPr>
        <p:spPr>
          <a:xfrm>
            <a:off x="548640" y="566928"/>
            <a:ext cx="10515600" cy="685800"/>
          </a:xfrm>
          <a:prstGeom prst="rect">
            <a:avLst/>
          </a:prstGeom>
          <a:noFill/>
          <a:ln/>
        </p:spPr>
        <p:txBody>
          <a:bodyPr wrap="square" rtlCol="0" anchor="ctr"/>
          <a:lstStyle/>
          <a:p>
            <a:pPr indent="0" marL="0">
              <a:buNone/>
            </a:pPr>
            <a:r>
              <a:rPr lang="en-US" sz="3400" b="1" dirty="0">
                <a:solidFill>
                  <a:srgbClr val="0B2B2C"/>
                </a:solidFill>
                <a:latin typeface="Cambria" pitchFamily="34" charset="0"/>
                <a:ea typeface="Cambria" pitchFamily="34" charset="-122"/>
                <a:cs typeface="Cambria" pitchFamily="34" charset="-120"/>
              </a:rPr>
              <a:t>Objectives</a:t>
            </a:r>
            <a:endParaRPr lang="en-US" sz="3400" dirty="0"/>
          </a:p>
        </p:txBody>
      </p:sp>
      <p:sp>
        <p:nvSpPr>
          <p:cNvPr id="4" name="Shape 2"/>
          <p:cNvSpPr/>
          <p:nvPr/>
        </p:nvSpPr>
        <p:spPr>
          <a:xfrm>
            <a:off x="548640" y="1581912"/>
            <a:ext cx="566928" cy="566928"/>
          </a:xfrm>
          <a:prstGeom prst="ellipse">
            <a:avLst/>
          </a:prstGeom>
          <a:solidFill>
            <a:srgbClr val="EAF5F3"/>
          </a:solidFill>
          <a:ln/>
        </p:spPr>
      </p:sp>
      <p:pic>
        <p:nvPicPr>
          <p:cNvPr id="5" name="Image 0" descr="icons/bullseye_teal.png">    </p:cNvPr>
          <p:cNvPicPr>
            <a:picLocks noChangeAspect="1"/>
          </p:cNvPicPr>
          <p:nvPr/>
        </p:nvPicPr>
        <p:blipFill>
          <a:blip r:embed="rId1"/>
          <a:stretch>
            <a:fillRect/>
          </a:stretch>
        </p:blipFill>
        <p:spPr>
          <a:xfrm>
            <a:off x="676656" y="1709928"/>
            <a:ext cx="310896" cy="310896"/>
          </a:xfrm>
          <a:prstGeom prst="rect">
            <a:avLst/>
          </a:prstGeom>
        </p:spPr>
      </p:pic>
      <p:sp>
        <p:nvSpPr>
          <p:cNvPr id="6" name="Text 3"/>
          <p:cNvSpPr/>
          <p:nvPr/>
        </p:nvSpPr>
        <p:spPr>
          <a:xfrm>
            <a:off x="1261872" y="15087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Build a predictive ML model</a:t>
            </a:r>
            <a:endParaRPr lang="en-US" sz="1400" dirty="0"/>
          </a:p>
        </p:txBody>
      </p:sp>
      <p:sp>
        <p:nvSpPr>
          <p:cNvPr id="7" name="Text 4"/>
          <p:cNvSpPr/>
          <p:nvPr/>
        </p:nvSpPr>
        <p:spPr>
          <a:xfrm>
            <a:off x="1261872" y="18745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Estimate the likelihood of heart disease from patient clinical data.</a:t>
            </a:r>
            <a:endParaRPr lang="en-US" sz="1150" dirty="0"/>
          </a:p>
        </p:txBody>
      </p:sp>
      <p:sp>
        <p:nvSpPr>
          <p:cNvPr id="8" name="Shape 5"/>
          <p:cNvSpPr/>
          <p:nvPr/>
        </p:nvSpPr>
        <p:spPr>
          <a:xfrm>
            <a:off x="6309360" y="1581912"/>
            <a:ext cx="566928" cy="566928"/>
          </a:xfrm>
          <a:prstGeom prst="ellipse">
            <a:avLst/>
          </a:prstGeom>
          <a:solidFill>
            <a:srgbClr val="EAF5F3"/>
          </a:solidFill>
          <a:ln/>
        </p:spPr>
      </p:sp>
      <p:pic>
        <p:nvPicPr>
          <p:cNvPr id="9" name="Image 1" descr="icons/broom_teal.png">    </p:cNvPr>
          <p:cNvPicPr>
            <a:picLocks noChangeAspect="1"/>
          </p:cNvPicPr>
          <p:nvPr/>
        </p:nvPicPr>
        <p:blipFill>
          <a:blip r:embed="rId2"/>
          <a:stretch>
            <a:fillRect/>
          </a:stretch>
        </p:blipFill>
        <p:spPr>
          <a:xfrm>
            <a:off x="6437376" y="1709928"/>
            <a:ext cx="310896" cy="310896"/>
          </a:xfrm>
          <a:prstGeom prst="rect">
            <a:avLst/>
          </a:prstGeom>
        </p:spPr>
      </p:pic>
      <p:sp>
        <p:nvSpPr>
          <p:cNvPr id="10" name="Text 6"/>
          <p:cNvSpPr/>
          <p:nvPr/>
        </p:nvSpPr>
        <p:spPr>
          <a:xfrm>
            <a:off x="7022592" y="15087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Prepare high-quality data</a:t>
            </a:r>
            <a:endParaRPr lang="en-US" sz="1400" dirty="0"/>
          </a:p>
        </p:txBody>
      </p:sp>
      <p:sp>
        <p:nvSpPr>
          <p:cNvPr id="11" name="Text 7"/>
          <p:cNvSpPr/>
          <p:nvPr/>
        </p:nvSpPr>
        <p:spPr>
          <a:xfrm>
            <a:off x="7022592" y="18745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Clean, select features, and normalize health data for modelling.</a:t>
            </a:r>
            <a:endParaRPr lang="en-US" sz="1150" dirty="0"/>
          </a:p>
        </p:txBody>
      </p:sp>
      <p:sp>
        <p:nvSpPr>
          <p:cNvPr id="12" name="Shape 8"/>
          <p:cNvSpPr/>
          <p:nvPr/>
        </p:nvSpPr>
        <p:spPr>
          <a:xfrm>
            <a:off x="548640" y="2953512"/>
            <a:ext cx="566928" cy="566928"/>
          </a:xfrm>
          <a:prstGeom prst="ellipse">
            <a:avLst/>
          </a:prstGeom>
          <a:solidFill>
            <a:srgbClr val="EAF5F3"/>
          </a:solidFill>
          <a:ln/>
        </p:spPr>
      </p:sp>
      <p:pic>
        <p:nvPicPr>
          <p:cNvPr id="13" name="Image 2" descr="icons/codeBranch_teal.png">    </p:cNvPr>
          <p:cNvPicPr>
            <a:picLocks noChangeAspect="1"/>
          </p:cNvPicPr>
          <p:nvPr/>
        </p:nvPicPr>
        <p:blipFill>
          <a:blip r:embed="rId3"/>
          <a:stretch>
            <a:fillRect/>
          </a:stretch>
        </p:blipFill>
        <p:spPr>
          <a:xfrm>
            <a:off x="676656" y="3081528"/>
            <a:ext cx="310896" cy="310896"/>
          </a:xfrm>
          <a:prstGeom prst="rect">
            <a:avLst/>
          </a:prstGeom>
        </p:spPr>
      </p:pic>
      <p:sp>
        <p:nvSpPr>
          <p:cNvPr id="14" name="Text 9"/>
          <p:cNvSpPr/>
          <p:nvPr/>
        </p:nvSpPr>
        <p:spPr>
          <a:xfrm>
            <a:off x="1261872" y="28803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Implement &amp; compare algorithms</a:t>
            </a:r>
            <a:endParaRPr lang="en-US" sz="1400" dirty="0"/>
          </a:p>
        </p:txBody>
      </p:sp>
      <p:sp>
        <p:nvSpPr>
          <p:cNvPr id="15" name="Text 10"/>
          <p:cNvSpPr/>
          <p:nvPr/>
        </p:nvSpPr>
        <p:spPr>
          <a:xfrm>
            <a:off x="1261872" y="32461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Logistic Regression, SVM, and KNN evaluated for classification performance.</a:t>
            </a:r>
            <a:endParaRPr lang="en-US" sz="1150" dirty="0"/>
          </a:p>
        </p:txBody>
      </p:sp>
      <p:sp>
        <p:nvSpPr>
          <p:cNvPr id="16" name="Shape 11"/>
          <p:cNvSpPr/>
          <p:nvPr/>
        </p:nvSpPr>
        <p:spPr>
          <a:xfrm>
            <a:off x="6309360" y="2953512"/>
            <a:ext cx="566928" cy="566928"/>
          </a:xfrm>
          <a:prstGeom prst="ellipse">
            <a:avLst/>
          </a:prstGeom>
          <a:solidFill>
            <a:srgbClr val="EAF5F3"/>
          </a:solidFill>
          <a:ln/>
        </p:spPr>
      </p:sp>
      <p:pic>
        <p:nvPicPr>
          <p:cNvPr id="17" name="Image 3" descr="icons/chartPie_teal.png">    </p:cNvPr>
          <p:cNvPicPr>
            <a:picLocks noChangeAspect="1"/>
          </p:cNvPicPr>
          <p:nvPr/>
        </p:nvPicPr>
        <p:blipFill>
          <a:blip r:embed="rId4"/>
          <a:stretch>
            <a:fillRect/>
          </a:stretch>
        </p:blipFill>
        <p:spPr>
          <a:xfrm>
            <a:off x="6437376" y="3081528"/>
            <a:ext cx="310896" cy="310896"/>
          </a:xfrm>
          <a:prstGeom prst="rect">
            <a:avLst/>
          </a:prstGeom>
        </p:spPr>
      </p:pic>
      <p:sp>
        <p:nvSpPr>
          <p:cNvPr id="18" name="Text 12"/>
          <p:cNvSpPr/>
          <p:nvPr/>
        </p:nvSpPr>
        <p:spPr>
          <a:xfrm>
            <a:off x="7022592" y="28803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Evaluate rigorously</a:t>
            </a:r>
            <a:endParaRPr lang="en-US" sz="1400" dirty="0"/>
          </a:p>
        </p:txBody>
      </p:sp>
      <p:sp>
        <p:nvSpPr>
          <p:cNvPr id="19" name="Text 13"/>
          <p:cNvSpPr/>
          <p:nvPr/>
        </p:nvSpPr>
        <p:spPr>
          <a:xfrm>
            <a:off x="7022592" y="32461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Assess each model using accuracy, precision, recall, F1-score, and confusion matrix.</a:t>
            </a:r>
            <a:endParaRPr lang="en-US" sz="1150" dirty="0"/>
          </a:p>
        </p:txBody>
      </p:sp>
      <p:sp>
        <p:nvSpPr>
          <p:cNvPr id="20" name="Shape 14"/>
          <p:cNvSpPr/>
          <p:nvPr/>
        </p:nvSpPr>
        <p:spPr>
          <a:xfrm>
            <a:off x="548640" y="4325112"/>
            <a:ext cx="566928" cy="566928"/>
          </a:xfrm>
          <a:prstGeom prst="ellipse">
            <a:avLst/>
          </a:prstGeom>
          <a:solidFill>
            <a:srgbClr val="EAF5F3"/>
          </a:solidFill>
          <a:ln/>
        </p:spPr>
      </p:sp>
      <p:pic>
        <p:nvPicPr>
          <p:cNvPr id="21" name="Image 4" descr="icons/award_teal.png">    </p:cNvPr>
          <p:cNvPicPr>
            <a:picLocks noChangeAspect="1"/>
          </p:cNvPicPr>
          <p:nvPr/>
        </p:nvPicPr>
        <p:blipFill>
          <a:blip r:embed="rId5"/>
          <a:stretch>
            <a:fillRect/>
          </a:stretch>
        </p:blipFill>
        <p:spPr>
          <a:xfrm>
            <a:off x="676656" y="4453128"/>
            <a:ext cx="310896" cy="310896"/>
          </a:xfrm>
          <a:prstGeom prst="rect">
            <a:avLst/>
          </a:prstGeom>
        </p:spPr>
      </p:pic>
      <p:sp>
        <p:nvSpPr>
          <p:cNvPr id="22" name="Text 15"/>
          <p:cNvSpPr/>
          <p:nvPr/>
        </p:nvSpPr>
        <p:spPr>
          <a:xfrm>
            <a:off x="1261872" y="42519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Identify the best algorithm</a:t>
            </a:r>
            <a:endParaRPr lang="en-US" sz="1400" dirty="0"/>
          </a:p>
        </p:txBody>
      </p:sp>
      <p:sp>
        <p:nvSpPr>
          <p:cNvPr id="23" name="Text 16"/>
          <p:cNvSpPr/>
          <p:nvPr/>
        </p:nvSpPr>
        <p:spPr>
          <a:xfrm>
            <a:off x="1261872" y="46177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Support early, reliable heart disease detection with the top performer.</a:t>
            </a:r>
            <a:endParaRPr lang="en-US" sz="1150" dirty="0"/>
          </a:p>
        </p:txBody>
      </p:sp>
      <p:sp>
        <p:nvSpPr>
          <p:cNvPr id="24" name="Shape 17"/>
          <p:cNvSpPr/>
          <p:nvPr/>
        </p:nvSpPr>
        <p:spPr>
          <a:xfrm>
            <a:off x="6309360" y="4325112"/>
            <a:ext cx="566928" cy="566928"/>
          </a:xfrm>
          <a:prstGeom prst="ellipse">
            <a:avLst/>
          </a:prstGeom>
          <a:solidFill>
            <a:srgbClr val="EAF5F3"/>
          </a:solidFill>
          <a:ln/>
        </p:spPr>
      </p:sp>
      <p:pic>
        <p:nvPicPr>
          <p:cNvPr id="25" name="Image 5" descr="icons/handHoldingMedical_teal.png">    </p:cNvPr>
          <p:cNvPicPr>
            <a:picLocks noChangeAspect="1"/>
          </p:cNvPicPr>
          <p:nvPr/>
        </p:nvPicPr>
        <p:blipFill>
          <a:blip r:embed="rId6"/>
          <a:stretch>
            <a:fillRect/>
          </a:stretch>
        </p:blipFill>
        <p:spPr>
          <a:xfrm>
            <a:off x="6437376" y="4453128"/>
            <a:ext cx="310896" cy="310896"/>
          </a:xfrm>
          <a:prstGeom prst="rect">
            <a:avLst/>
          </a:prstGeom>
        </p:spPr>
      </p:pic>
      <p:sp>
        <p:nvSpPr>
          <p:cNvPr id="26" name="Text 18"/>
          <p:cNvSpPr/>
          <p:nvPr/>
        </p:nvSpPr>
        <p:spPr>
          <a:xfrm>
            <a:off x="7022592" y="4251960"/>
            <a:ext cx="4727448" cy="365760"/>
          </a:xfrm>
          <a:prstGeom prst="rect">
            <a:avLst/>
          </a:prstGeom>
          <a:noFill/>
          <a:ln/>
        </p:spPr>
        <p:txBody>
          <a:bodyPr wrap="square" rtlCol="0" anchor="ctr"/>
          <a:lstStyle/>
          <a:p>
            <a:pPr indent="0" marL="0">
              <a:buNone/>
            </a:pPr>
            <a:r>
              <a:rPr lang="en-US" sz="1400" b="1" dirty="0">
                <a:solidFill>
                  <a:srgbClr val="028090"/>
                </a:solidFill>
                <a:latin typeface="Calibri" pitchFamily="34" charset="0"/>
                <a:ea typeface="Calibri" pitchFamily="34" charset="-122"/>
                <a:cs typeface="Calibri" pitchFamily="34" charset="-120"/>
              </a:rPr>
              <a:t>Deliver decision support</a:t>
            </a:r>
            <a:endParaRPr lang="en-US" sz="1400" dirty="0"/>
          </a:p>
        </p:txBody>
      </p:sp>
      <p:sp>
        <p:nvSpPr>
          <p:cNvPr id="27" name="Text 19"/>
          <p:cNvSpPr/>
          <p:nvPr/>
        </p:nvSpPr>
        <p:spPr>
          <a:xfrm>
            <a:off x="7022592" y="4617720"/>
            <a:ext cx="4727448" cy="658368"/>
          </a:xfrm>
          <a:prstGeom prst="rect">
            <a:avLst/>
          </a:prstGeom>
          <a:noFill/>
          <a:ln/>
        </p:spPr>
        <p:txBody>
          <a:bodyPr wrap="square" rtlCol="0" anchor="t"/>
          <a:lstStyle/>
          <a:p>
            <a:pPr indent="0" marL="0">
              <a:lnSpc>
                <a:spcPct val="120000"/>
              </a:lnSpc>
              <a:buNone/>
            </a:pPr>
            <a:r>
              <a:rPr lang="en-US" sz="1150" dirty="0">
                <a:solidFill>
                  <a:srgbClr val="0B2B2C"/>
                </a:solidFill>
                <a:latin typeface="Calibri" pitchFamily="34" charset="0"/>
                <a:ea typeface="Calibri" pitchFamily="34" charset="-122"/>
                <a:cs typeface="Calibri" pitchFamily="34" charset="-120"/>
              </a:rPr>
              <a:t>Provide a fast, cost-effective tool for healthcare professionals.</a:t>
            </a:r>
            <a:endParaRPr lang="en-US" sz="1150" dirty="0"/>
          </a:p>
        </p:txBody>
      </p:sp>
      <p:sp>
        <p:nvSpPr>
          <p:cNvPr id="28" name="Text 20"/>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5C7A7B"/>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29" name="Text 21"/>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5C7A7B"/>
                </a:solidFill>
                <a:latin typeface="Calibri" pitchFamily="34" charset="0"/>
                <a:ea typeface="Calibri" pitchFamily="34" charset="-122"/>
                <a:cs typeface="Calibri" pitchFamily="34" charset="-120"/>
              </a:rPr>
              <a:t>8</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9326880" y="-1645920"/>
            <a:ext cx="4572000" cy="4572000"/>
          </a:xfrm>
          <a:prstGeom prst="ellipse">
            <a:avLst/>
          </a:prstGeom>
          <a:solidFill>
            <a:srgbClr val="028090">
              <a:alpha val="40000"/>
            </a:srgbClr>
          </a:solidFill>
          <a:ln/>
        </p:spPr>
      </p:sp>
      <p:sp>
        <p:nvSpPr>
          <p:cNvPr id="3" name="Text 1"/>
          <p:cNvSpPr/>
          <p:nvPr/>
        </p:nvSpPr>
        <p:spPr>
          <a:xfrm>
            <a:off x="548640" y="457200"/>
            <a:ext cx="7315200" cy="274320"/>
          </a:xfrm>
          <a:prstGeom prst="rect">
            <a:avLst/>
          </a:prstGeom>
          <a:noFill/>
          <a:ln/>
        </p:spPr>
        <p:txBody>
          <a:bodyPr wrap="square" rtlCol="0" anchor="ctr"/>
          <a:lstStyle/>
          <a:p>
            <a:pPr indent="0" marL="0">
              <a:buNone/>
            </a:pPr>
            <a:r>
              <a:rPr lang="en-US" sz="1200" b="1" spc="200" kern="0" dirty="0">
                <a:solidFill>
                  <a:srgbClr val="02C39A"/>
                </a:solidFill>
                <a:latin typeface="Calibri" pitchFamily="34" charset="0"/>
                <a:ea typeface="Calibri" pitchFamily="34" charset="-122"/>
                <a:cs typeface="Calibri" pitchFamily="34" charset="-120"/>
              </a:rPr>
              <a:t>CONCLUSION</a:t>
            </a:r>
            <a:endParaRPr lang="en-US" sz="1200" dirty="0"/>
          </a:p>
        </p:txBody>
      </p:sp>
      <p:sp>
        <p:nvSpPr>
          <p:cNvPr id="4" name="Text 2"/>
          <p:cNvSpPr/>
          <p:nvPr/>
        </p:nvSpPr>
        <p:spPr>
          <a:xfrm>
            <a:off x="548640" y="713232"/>
            <a:ext cx="10789920" cy="868680"/>
          </a:xfrm>
          <a:prstGeom prst="rect">
            <a:avLst/>
          </a:prstGeom>
          <a:noFill/>
          <a:ln/>
        </p:spPr>
        <p:txBody>
          <a:bodyPr wrap="square" rtlCol="0" anchor="ctr"/>
          <a:lstStyle/>
          <a:p>
            <a:pPr indent="0" marL="0">
              <a:buNone/>
            </a:pPr>
            <a:r>
              <a:rPr lang="en-US" sz="2700" b="1" dirty="0">
                <a:solidFill>
                  <a:srgbClr val="FFFFFF"/>
                </a:solidFill>
                <a:latin typeface="Cambria" pitchFamily="34" charset="0"/>
                <a:ea typeface="Cambria" pitchFamily="34" charset="-122"/>
                <a:cs typeface="Cambria" pitchFamily="34" charset="-120"/>
              </a:rPr>
              <a:t>ML Can Support Early Heart Disease Detection</a:t>
            </a:r>
            <a:endParaRPr lang="en-US" sz="2700" dirty="0"/>
          </a:p>
        </p:txBody>
      </p:sp>
      <p:sp>
        <p:nvSpPr>
          <p:cNvPr id="5" name="Text 3"/>
          <p:cNvSpPr/>
          <p:nvPr/>
        </p:nvSpPr>
        <p:spPr>
          <a:xfrm>
            <a:off x="548640" y="1783080"/>
            <a:ext cx="6675120" cy="3566160"/>
          </a:xfrm>
          <a:prstGeom prst="rect">
            <a:avLst/>
          </a:prstGeom>
          <a:noFill/>
          <a:ln/>
        </p:spPr>
        <p:txBody>
          <a:bodyPr wrap="square" rtlCol="0" anchor="t"/>
          <a:lstStyle/>
          <a:p>
            <a:pPr indent="0" marL="0">
              <a:lnSpc>
                <a:spcPct val="135000"/>
              </a:lnSpc>
              <a:buNone/>
            </a:pPr>
            <a:r>
              <a:rPr lang="en-US" sz="1450" dirty="0">
                <a:solidFill>
                  <a:srgbClr val="E3F3F0"/>
                </a:solidFill>
                <a:latin typeface="Calibri" pitchFamily="34" charset="0"/>
                <a:ea typeface="Calibri" pitchFamily="34" charset="-122"/>
                <a:cs typeface="Calibri" pitchFamily="34" charset="-120"/>
              </a:rPr>
              <a:t>The project demonstrates that machine learning can effectively support early heart disease prediction from routine clinical data. Logistic Regression, SVM, and KNN were implemented and compared on accuracy, precision, recall, F1-score, and confusion matrix.
</a:t>
            </a:r>
            <a:pPr indent="0" marL="0">
              <a:lnSpc>
                <a:spcPct val="135000"/>
              </a:lnSpc>
              <a:buNone/>
            </a:pPr>
            <a:r>
              <a:rPr lang="en-US" sz="1450" b="1" i="1" dirty="0">
                <a:solidFill>
                  <a:srgbClr val="02C39A"/>
                </a:solidFill>
                <a:latin typeface="Calibri" pitchFamily="34" charset="0"/>
                <a:ea typeface="Calibri" pitchFamily="34" charset="-122"/>
                <a:cs typeface="Calibri" pitchFamily="34" charset="-120"/>
              </a:rPr>
              <a:t>It is intended to assist — not replace — professional medical diagnosis, supporting better clinical decisions and patient outcomes.</a:t>
            </a:r>
            <a:endParaRPr lang="en-US" sz="1450" dirty="0"/>
          </a:p>
        </p:txBody>
      </p:sp>
      <p:sp>
        <p:nvSpPr>
          <p:cNvPr id="6" name="Shape 4"/>
          <p:cNvSpPr/>
          <p:nvPr/>
        </p:nvSpPr>
        <p:spPr>
          <a:xfrm>
            <a:off x="7589520" y="1783080"/>
            <a:ext cx="4023360" cy="1051560"/>
          </a:xfrm>
          <a:prstGeom prst="rect">
            <a:avLst>
              <a:gd name="adj" fmla="val 8696"/>
            </a:avLst>
          </a:prstGeom>
          <a:solidFill>
            <a:srgbClr val="011E1F">
              <a:alpha val="85000"/>
            </a:srgbClr>
          </a:solidFill>
          <a:ln/>
        </p:spPr>
      </p:sp>
      <p:sp>
        <p:nvSpPr>
          <p:cNvPr id="7" name="Text 5"/>
          <p:cNvSpPr/>
          <p:nvPr/>
        </p:nvSpPr>
        <p:spPr>
          <a:xfrm>
            <a:off x="7818120" y="1783080"/>
            <a:ext cx="1051560" cy="1051560"/>
          </a:xfrm>
          <a:prstGeom prst="rect">
            <a:avLst/>
          </a:prstGeom>
          <a:noFill/>
          <a:ln/>
        </p:spPr>
        <p:txBody>
          <a:bodyPr wrap="square"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3</a:t>
            </a:r>
            <a:endParaRPr lang="en-US" sz="4000" dirty="0"/>
          </a:p>
        </p:txBody>
      </p:sp>
      <p:sp>
        <p:nvSpPr>
          <p:cNvPr id="8" name="Text 6"/>
          <p:cNvSpPr/>
          <p:nvPr/>
        </p:nvSpPr>
        <p:spPr>
          <a:xfrm>
            <a:off x="8915400" y="1783080"/>
            <a:ext cx="2606040" cy="10515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Algorithms Compared</a:t>
            </a:r>
            <a:endParaRPr lang="en-US" sz="1400" dirty="0"/>
          </a:p>
        </p:txBody>
      </p:sp>
      <p:sp>
        <p:nvSpPr>
          <p:cNvPr id="9" name="Shape 7"/>
          <p:cNvSpPr/>
          <p:nvPr/>
        </p:nvSpPr>
        <p:spPr>
          <a:xfrm>
            <a:off x="7589520" y="3063240"/>
            <a:ext cx="4023360" cy="1051560"/>
          </a:xfrm>
          <a:prstGeom prst="rect">
            <a:avLst>
              <a:gd name="adj" fmla="val 8696"/>
            </a:avLst>
          </a:prstGeom>
          <a:solidFill>
            <a:srgbClr val="011E1F">
              <a:alpha val="85000"/>
            </a:srgbClr>
          </a:solidFill>
          <a:ln/>
        </p:spPr>
      </p:sp>
      <p:sp>
        <p:nvSpPr>
          <p:cNvPr id="10" name="Text 8"/>
          <p:cNvSpPr/>
          <p:nvPr/>
        </p:nvSpPr>
        <p:spPr>
          <a:xfrm>
            <a:off x="7818120" y="3063240"/>
            <a:ext cx="1051560" cy="1051560"/>
          </a:xfrm>
          <a:prstGeom prst="rect">
            <a:avLst/>
          </a:prstGeom>
          <a:noFill/>
          <a:ln/>
        </p:spPr>
        <p:txBody>
          <a:bodyPr wrap="square"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5</a:t>
            </a:r>
            <a:endParaRPr lang="en-US" sz="4000" dirty="0"/>
          </a:p>
        </p:txBody>
      </p:sp>
      <p:sp>
        <p:nvSpPr>
          <p:cNvPr id="11" name="Text 9"/>
          <p:cNvSpPr/>
          <p:nvPr/>
        </p:nvSpPr>
        <p:spPr>
          <a:xfrm>
            <a:off x="8915400" y="3063240"/>
            <a:ext cx="2606040" cy="10515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Evaluation Metrics</a:t>
            </a:r>
            <a:endParaRPr lang="en-US" sz="1400" dirty="0"/>
          </a:p>
        </p:txBody>
      </p:sp>
      <p:sp>
        <p:nvSpPr>
          <p:cNvPr id="12" name="Shape 10"/>
          <p:cNvSpPr/>
          <p:nvPr/>
        </p:nvSpPr>
        <p:spPr>
          <a:xfrm>
            <a:off x="7589520" y="4343400"/>
            <a:ext cx="4023360" cy="1051560"/>
          </a:xfrm>
          <a:prstGeom prst="rect">
            <a:avLst>
              <a:gd name="adj" fmla="val 8696"/>
            </a:avLst>
          </a:prstGeom>
          <a:solidFill>
            <a:srgbClr val="011E1F">
              <a:alpha val="85000"/>
            </a:srgbClr>
          </a:solidFill>
          <a:ln/>
        </p:spPr>
      </p:sp>
      <p:sp>
        <p:nvSpPr>
          <p:cNvPr id="13" name="Text 11"/>
          <p:cNvSpPr/>
          <p:nvPr/>
        </p:nvSpPr>
        <p:spPr>
          <a:xfrm>
            <a:off x="7818120" y="4343400"/>
            <a:ext cx="1051560" cy="1051560"/>
          </a:xfrm>
          <a:prstGeom prst="rect">
            <a:avLst/>
          </a:prstGeom>
          <a:noFill/>
          <a:ln/>
        </p:spPr>
        <p:txBody>
          <a:bodyPr wrap="square" rtlCol="0" anchor="ctr"/>
          <a:lstStyle/>
          <a:p>
            <a:pPr algn="ctr" indent="0" marL="0">
              <a:buNone/>
            </a:pPr>
            <a:r>
              <a:rPr lang="en-US" sz="4000" b="1" dirty="0">
                <a:solidFill>
                  <a:srgbClr val="02C39A"/>
                </a:solidFill>
                <a:latin typeface="Cambria" pitchFamily="34" charset="0"/>
                <a:ea typeface="Cambria" pitchFamily="34" charset="-122"/>
                <a:cs typeface="Cambria" pitchFamily="34" charset="-120"/>
              </a:rPr>
              <a:t>1</a:t>
            </a:r>
            <a:endParaRPr lang="en-US" sz="4000" dirty="0"/>
          </a:p>
        </p:txBody>
      </p:sp>
      <p:sp>
        <p:nvSpPr>
          <p:cNvPr id="14" name="Text 12"/>
          <p:cNvSpPr/>
          <p:nvPr/>
        </p:nvSpPr>
        <p:spPr>
          <a:xfrm>
            <a:off x="8915400" y="4343400"/>
            <a:ext cx="2606040" cy="1051560"/>
          </a:xfrm>
          <a:prstGeom prst="rect">
            <a:avLst/>
          </a:prstGeom>
          <a:noFill/>
          <a:ln/>
        </p:spPr>
        <p:txBody>
          <a:bodyPr wrap="square" rtlCol="0" anchor="ctr"/>
          <a:lstStyle/>
          <a:p>
            <a:pPr indent="0" marL="0">
              <a:buNone/>
            </a:pPr>
            <a:r>
              <a:rPr lang="en-US" sz="1400" b="1" dirty="0">
                <a:solidFill>
                  <a:srgbClr val="FFFFFF"/>
                </a:solidFill>
                <a:latin typeface="Calibri" pitchFamily="34" charset="0"/>
                <a:ea typeface="Calibri" pitchFamily="34" charset="-122"/>
                <a:cs typeface="Calibri" pitchFamily="34" charset="-120"/>
              </a:rPr>
              <a:t>Decision-Support Tool</a:t>
            </a:r>
            <a:endParaRPr lang="en-US" sz="1400" dirty="0"/>
          </a:p>
        </p:txBody>
      </p:sp>
      <p:sp>
        <p:nvSpPr>
          <p:cNvPr id="15" name="Text 13"/>
          <p:cNvSpPr/>
          <p:nvPr/>
        </p:nvSpPr>
        <p:spPr>
          <a:xfrm>
            <a:off x="457200" y="6473952"/>
            <a:ext cx="8229600" cy="274320"/>
          </a:xfrm>
          <a:prstGeom prst="rect">
            <a:avLst/>
          </a:prstGeom>
          <a:noFill/>
          <a:ln/>
        </p:spPr>
        <p:txBody>
          <a:bodyPr wrap="square" rtlCol="0" anchor="ctr"/>
          <a:lstStyle/>
          <a:p>
            <a:pPr algn="l" indent="0" marL="0">
              <a:buNone/>
            </a:pPr>
            <a:r>
              <a:rPr lang="en-US" sz="900" dirty="0">
                <a:solidFill>
                  <a:srgbClr val="BFE3DF"/>
                </a:solidFill>
                <a:latin typeface="Calibri" pitchFamily="34" charset="0"/>
                <a:ea typeface="Calibri" pitchFamily="34" charset="-122"/>
                <a:cs typeface="Calibri" pitchFamily="34" charset="-120"/>
              </a:rPr>
              <a:t>Heart Disease Prediction  •  M. Lalitha, P. Sravya  •  Dept. of CSIT</a:t>
            </a:r>
            <a:endParaRPr lang="en-US" sz="900" dirty="0"/>
          </a:p>
        </p:txBody>
      </p:sp>
      <p:sp>
        <p:nvSpPr>
          <p:cNvPr id="16" name="Text 14"/>
          <p:cNvSpPr/>
          <p:nvPr/>
        </p:nvSpPr>
        <p:spPr>
          <a:xfrm>
            <a:off x="11277295" y="6473952"/>
            <a:ext cx="457200" cy="274320"/>
          </a:xfrm>
          <a:prstGeom prst="rect">
            <a:avLst/>
          </a:prstGeom>
          <a:noFill/>
          <a:ln/>
        </p:spPr>
        <p:txBody>
          <a:bodyPr wrap="square" rtlCol="0" anchor="ctr"/>
          <a:lstStyle/>
          <a:p>
            <a:pPr algn="r" indent="0" marL="0">
              <a:buNone/>
            </a:pPr>
            <a:r>
              <a:rPr lang="en-US" sz="900" dirty="0">
                <a:solidFill>
                  <a:srgbClr val="BFE3DF"/>
                </a:solidFill>
                <a:latin typeface="Calibri" pitchFamily="34" charset="0"/>
                <a:ea typeface="Calibri" pitchFamily="34" charset="-122"/>
                <a:cs typeface="Calibri" pitchFamily="34" charset="-120"/>
              </a:rPr>
              <a:t>9</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023436"/>
        </a:solidFill>
      </p:bgPr>
    </p:bg>
    <p:spTree>
      <p:nvGrpSpPr>
        <p:cNvPr id="1" name=""/>
        <p:cNvGrpSpPr/>
        <p:nvPr/>
      </p:nvGrpSpPr>
      <p:grpSpPr>
        <a:xfrm>
          <a:off x="0" y="0"/>
          <a:ext cx="0" cy="0"/>
          <a:chOff x="0" y="0"/>
          <a:chExt cx="0" cy="0"/>
        </a:xfrm>
      </p:grpSpPr>
      <p:sp>
        <p:nvSpPr>
          <p:cNvPr id="2" name="Shape 0"/>
          <p:cNvSpPr/>
          <p:nvPr/>
        </p:nvSpPr>
        <p:spPr>
          <a:xfrm>
            <a:off x="-1371600" y="-1645920"/>
            <a:ext cx="5029200" cy="5029200"/>
          </a:xfrm>
          <a:prstGeom prst="ellipse">
            <a:avLst/>
          </a:prstGeom>
          <a:solidFill>
            <a:srgbClr val="028090">
              <a:alpha val="45000"/>
            </a:srgbClr>
          </a:solidFill>
          <a:ln/>
        </p:spPr>
      </p:sp>
      <p:sp>
        <p:nvSpPr>
          <p:cNvPr id="3" name="Shape 1"/>
          <p:cNvSpPr/>
          <p:nvPr/>
        </p:nvSpPr>
        <p:spPr>
          <a:xfrm>
            <a:off x="9875520" y="3657600"/>
            <a:ext cx="4114800" cy="4114800"/>
          </a:xfrm>
          <a:prstGeom prst="ellipse">
            <a:avLst/>
          </a:prstGeom>
          <a:solidFill>
            <a:srgbClr val="00A896">
              <a:alpha val="35000"/>
            </a:srgbClr>
          </a:solidFill>
          <a:ln/>
        </p:spPr>
      </p:sp>
      <p:sp>
        <p:nvSpPr>
          <p:cNvPr id="4" name="Shape 2"/>
          <p:cNvSpPr/>
          <p:nvPr/>
        </p:nvSpPr>
        <p:spPr>
          <a:xfrm>
            <a:off x="5592928" y="1965960"/>
            <a:ext cx="1005840" cy="1005840"/>
          </a:xfrm>
          <a:prstGeom prst="ellipse">
            <a:avLst/>
          </a:prstGeom>
          <a:solidFill>
            <a:srgbClr val="028090"/>
          </a:solidFill>
          <a:ln/>
        </p:spPr>
      </p:sp>
      <p:pic>
        <p:nvPicPr>
          <p:cNvPr id="5" name="Image 0" descr="icons/heartbeat_white.png">    </p:cNvPr>
          <p:cNvPicPr>
            <a:picLocks noChangeAspect="1"/>
          </p:cNvPicPr>
          <p:nvPr/>
        </p:nvPicPr>
        <p:blipFill>
          <a:blip r:embed="rId1"/>
          <a:stretch>
            <a:fillRect/>
          </a:stretch>
        </p:blipFill>
        <p:spPr>
          <a:xfrm>
            <a:off x="5775808" y="2148840"/>
            <a:ext cx="640080" cy="640080"/>
          </a:xfrm>
          <a:prstGeom prst="rect">
            <a:avLst/>
          </a:prstGeom>
        </p:spPr>
      </p:pic>
      <p:sp>
        <p:nvSpPr>
          <p:cNvPr id="6" name="Text 3"/>
          <p:cNvSpPr/>
          <p:nvPr/>
        </p:nvSpPr>
        <p:spPr>
          <a:xfrm>
            <a:off x="0" y="3063240"/>
            <a:ext cx="12191695" cy="868680"/>
          </a:xfrm>
          <a:prstGeom prst="rect">
            <a:avLst/>
          </a:prstGeom>
          <a:noFill/>
          <a:ln/>
        </p:spPr>
        <p:txBody>
          <a:bodyPr wrap="square" rtlCol="0" anchor="ctr"/>
          <a:lstStyle/>
          <a:p>
            <a:pPr algn="ctr" indent="0" marL="0">
              <a:buNone/>
            </a:pPr>
            <a:r>
              <a:rPr lang="en-US" sz="4200" b="1" dirty="0">
                <a:solidFill>
                  <a:srgbClr val="FFFFFF"/>
                </a:solidFill>
                <a:latin typeface="Cambria" pitchFamily="34" charset="0"/>
                <a:ea typeface="Cambria" pitchFamily="34" charset="-122"/>
                <a:cs typeface="Cambria" pitchFamily="34" charset="-120"/>
              </a:rPr>
              <a:t>Thank You</a:t>
            </a:r>
            <a:endParaRPr lang="en-US" sz="4200" dirty="0"/>
          </a:p>
        </p:txBody>
      </p:sp>
      <p:sp>
        <p:nvSpPr>
          <p:cNvPr id="7" name="Text 4"/>
          <p:cNvSpPr/>
          <p:nvPr/>
        </p:nvSpPr>
        <p:spPr>
          <a:xfrm>
            <a:off x="0" y="3794760"/>
            <a:ext cx="12191695" cy="457200"/>
          </a:xfrm>
          <a:prstGeom prst="rect">
            <a:avLst/>
          </a:prstGeom>
          <a:noFill/>
          <a:ln/>
        </p:spPr>
        <p:txBody>
          <a:bodyPr wrap="square" rtlCol="0" anchor="ctr"/>
          <a:lstStyle/>
          <a:p>
            <a:pPr algn="ctr" indent="0" marL="0">
              <a:buNone/>
            </a:pPr>
            <a:r>
              <a:rPr lang="en-US" sz="1500" i="1" dirty="0">
                <a:solidFill>
                  <a:srgbClr val="02C39A"/>
                </a:solidFill>
                <a:latin typeface="Calibri" pitchFamily="34" charset="0"/>
                <a:ea typeface="Calibri" pitchFamily="34" charset="-122"/>
                <a:cs typeface="Calibri" pitchFamily="34" charset="-120"/>
              </a:rPr>
              <a:t>Questions &amp; Discussion Welcome</a:t>
            </a:r>
            <a:endParaRPr lang="en-US" sz="1500" dirty="0"/>
          </a:p>
        </p:txBody>
      </p:sp>
      <p:sp>
        <p:nvSpPr>
          <p:cNvPr id="8" name="Text 5"/>
          <p:cNvSpPr/>
          <p:nvPr/>
        </p:nvSpPr>
        <p:spPr>
          <a:xfrm>
            <a:off x="0" y="6126480"/>
            <a:ext cx="12191695" cy="365760"/>
          </a:xfrm>
          <a:prstGeom prst="rect">
            <a:avLst/>
          </a:prstGeom>
          <a:noFill/>
          <a:ln/>
        </p:spPr>
        <p:txBody>
          <a:bodyPr wrap="square" rtlCol="0" anchor="ctr"/>
          <a:lstStyle/>
          <a:p>
            <a:pPr algn="ctr" indent="0" marL="0">
              <a:buNone/>
            </a:pPr>
            <a:r>
              <a:rPr lang="en-US" sz="1100" dirty="0">
                <a:solidFill>
                  <a:srgbClr val="9FD3CC"/>
                </a:solidFill>
                <a:latin typeface="Calibri" pitchFamily="34" charset="0"/>
                <a:ea typeface="Calibri" pitchFamily="34" charset="-122"/>
                <a:cs typeface="Calibri" pitchFamily="34" charset="-120"/>
              </a:rPr>
              <a:t>M. Lalitha (2520080063)   •   P. Sravya (2520090059)   •   Department of CSIT   •   20-08-2026</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2026-08-20T05:35:25Z</dcterms:created>
  <dcterms:modified xsi:type="dcterms:W3CDTF">2026-08-20T05:35:25Z</dcterms:modified>
</cp:coreProperties>
</file>